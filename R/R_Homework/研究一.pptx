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5.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3"/>
    <p:sldId id="258" r:id="rId4"/>
    <p:sldId id="260" r:id="rId5"/>
    <p:sldId id="273" r:id="rId6"/>
    <p:sldId id="288" r:id="rId7"/>
    <p:sldId id="291" r:id="rId8"/>
    <p:sldId id="292" r:id="rId9"/>
    <p:sldId id="293" r:id="rId10"/>
    <p:sldId id="294" r:id="rId11"/>
    <p:sldId id="295" r:id="rId12"/>
    <p:sldId id="296" r:id="rId13"/>
    <p:sldId id="297" r:id="rId14"/>
    <p:sldId id="298" r:id="rId15"/>
    <p:sldId id="272" r:id="rId16"/>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熊仪_aYju7RJj" initials="熊" lastIdx="0" clrIdx="0"/>
  <p:cmAuthor id="1" name="哒哒 熊猫" initials="哒哒" lastIdx="1" clrIdx="0"/>
  <p:cmAuthor id="8" name="yifei" initials="y" lastIdx="1" clrIdx="7"/>
  <p:cmAuthor id="2" name="kingsoft" initials="k" lastIdx="1" clrIdx="1"/>
  <p:cmAuthor id="9" name="ADMIN" initials="A" lastIdx="1" clrIdx="8"/>
  <p:cmAuthor id="3" name="zhouzean" initials="z" lastIdx="1" clrIdx="2"/>
  <p:cmAuthor id="4" name="李鹏飞_6bQfzI3a" initials="李" lastIdx="0" clrIdx="0"/>
  <p:cmAuthor id="5" name="李晓菲_MZFnUzi6" initials="李" lastIdx="0" clrIdx="0"/>
  <p:cmAuthor id="6" name="小珞_QjMfU7FR" initials="小" lastIdx="0" clrIdx="0"/>
  <p:cmAuthor id="2001" name="骆倩怡_Znauj26B" initials="authorId_382814100"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A44"/>
    <a:srgbClr val="EFF7E8"/>
    <a:srgbClr val="C9E5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gs" Target="tags/tag34.xml"/><Relationship Id="rId21" Type="http://schemas.openxmlformats.org/officeDocument/2006/relationships/commentAuthors" Target="commen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4.xml"/><Relationship Id="rId8" Type="http://schemas.openxmlformats.org/officeDocument/2006/relationships/tags" Target="../tags/tag3.xml"/><Relationship Id="rId7" Type="http://schemas.openxmlformats.org/officeDocument/2006/relationships/image" Target="../media/image5.svg"/><Relationship Id="rId6" Type="http://schemas.openxmlformats.org/officeDocument/2006/relationships/image" Target="../media/image4.png"/><Relationship Id="rId5" Type="http://schemas.openxmlformats.org/officeDocument/2006/relationships/tags" Target="../tags/tag2.xml"/><Relationship Id="rId4" Type="http://schemas.openxmlformats.org/officeDocument/2006/relationships/tags" Target="../tags/tag1.xml"/><Relationship Id="rId3" Type="http://schemas.openxmlformats.org/officeDocument/2006/relationships/image" Target="../media/image3.png"/><Relationship Id="rId2" Type="http://schemas.openxmlformats.org/officeDocument/2006/relationships/image" Target="../media/image2.png"/><Relationship Id="rId15" Type="http://schemas.openxmlformats.org/officeDocument/2006/relationships/slideLayout" Target="../slideLayouts/slideLayout1.xml"/><Relationship Id="rId14" Type="http://schemas.openxmlformats.org/officeDocument/2006/relationships/tags" Target="../tags/tag7.xml"/><Relationship Id="rId13" Type="http://schemas.openxmlformats.org/officeDocument/2006/relationships/tags" Target="../tags/tag6.xml"/><Relationship Id="rId12" Type="http://schemas.openxmlformats.org/officeDocument/2006/relationships/tags" Target="../tags/tag5.xml"/><Relationship Id="rId11" Type="http://schemas.openxmlformats.org/officeDocument/2006/relationships/image" Target="../media/image7.svg"/><Relationship Id="rId10" Type="http://schemas.openxmlformats.org/officeDocument/2006/relationships/image" Target="../media/image6.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4" Type="http://schemas.openxmlformats.org/officeDocument/2006/relationships/slideLayout" Target="../slideLayouts/slideLayout1.xml"/><Relationship Id="rId13" Type="http://schemas.openxmlformats.org/officeDocument/2006/relationships/tags" Target="../tags/tag19.xml"/><Relationship Id="rId12" Type="http://schemas.openxmlformats.org/officeDocument/2006/relationships/tags" Target="../tags/tag1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8.jpeg"/></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23.xml"/><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24.xml"/><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25.xml"/><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26.xml"/><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27.xml"/><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28.xml"/><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29.xml"/><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30.xml"/><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31.xml"/><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32.xml"/><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3.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直角三角形 4"/>
          <p:cNvSpPr/>
          <p:nvPr/>
        </p:nvSpPr>
        <p:spPr>
          <a:xfrm rot="5400000">
            <a:off x="0" y="0"/>
            <a:ext cx="3716655" cy="3716655"/>
          </a:xfrm>
          <a:prstGeom prst="rtTriangle">
            <a:avLst/>
          </a:prstGeom>
          <a:solidFill>
            <a:srgbClr val="006A4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直角三角形 5"/>
          <p:cNvSpPr/>
          <p:nvPr/>
        </p:nvSpPr>
        <p:spPr>
          <a:xfrm rot="16200000">
            <a:off x="8484870" y="3169920"/>
            <a:ext cx="3716655" cy="3716655"/>
          </a:xfrm>
          <a:prstGeom prst="rtTriangle">
            <a:avLst/>
          </a:prstGeom>
          <a:solidFill>
            <a:srgbClr val="006A4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矩形 9"/>
          <p:cNvSpPr/>
          <p:nvPr/>
        </p:nvSpPr>
        <p:spPr>
          <a:xfrm>
            <a:off x="242570" y="680085"/>
            <a:ext cx="11707495" cy="5502275"/>
          </a:xfrm>
          <a:prstGeom prst="rect">
            <a:avLst/>
          </a:prstGeom>
          <a:solidFill>
            <a:schemeClr val="bg1"/>
          </a:solidFill>
          <a:ln>
            <a:noFill/>
          </a:ln>
          <a:effectLst>
            <a:outerShdw blurRad="127000" dist="38100" algn="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矩形 8"/>
          <p:cNvSpPr/>
          <p:nvPr/>
        </p:nvSpPr>
        <p:spPr>
          <a:xfrm>
            <a:off x="242570" y="680085"/>
            <a:ext cx="11707495" cy="5502275"/>
          </a:xfrm>
          <a:prstGeom prst="rect">
            <a:avLst/>
          </a:prstGeom>
          <a:blipFill rotWithShape="1">
            <a:blip r:embed="rId1">
              <a:alphaModFix amt="15000"/>
            </a:blip>
            <a:stretch>
              <a:fillRect/>
            </a:stretch>
          </a:blipFill>
          <a:ln>
            <a:noFill/>
          </a:ln>
          <a:effectLst>
            <a:outerShdw blurRad="127000" dist="63500" algn="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1286510" y="2402205"/>
            <a:ext cx="9620250" cy="1753235"/>
          </a:xfrm>
          <a:prstGeom prst="rect">
            <a:avLst/>
          </a:prstGeom>
        </p:spPr>
        <p:txBody>
          <a:bodyPr wrap="square">
            <a:spAutoFit/>
            <a:extLst>
              <a:ext uri="{4A0BC546-FE56-4ADE-93B0-CB8AF2F6F144}">
                <wpsdc:textFrameExt xmlns:wpsdc="http://www.wps.cn/officeDocument/2022/drawingmlCustomData" type="text"/>
              </a:ext>
            </a:extLst>
          </a:bodyPr>
          <a:p>
            <a:pPr algn="ctr"/>
            <a:r>
              <a:rPr lang="en-US" altLang="zh-CN" sz="5400" b="1">
                <a:latin typeface="微软雅黑" panose="020B0503020204020204" charset="-122"/>
                <a:ea typeface="微软雅黑" panose="020B0503020204020204" charset="-122"/>
                <a:cs typeface="微软雅黑" panose="020B0503020204020204" charset="-122"/>
              </a:rPr>
              <a:t>R </a:t>
            </a:r>
            <a:r>
              <a:rPr lang="zh-CN" altLang="en-US" sz="5400" b="1">
                <a:latin typeface="微软雅黑" panose="020B0503020204020204" charset="-122"/>
                <a:ea typeface="微软雅黑" panose="020B0503020204020204" charset="-122"/>
                <a:cs typeface="微软雅黑" panose="020B0503020204020204" charset="-122"/>
              </a:rPr>
              <a:t>编程语言</a:t>
            </a:r>
            <a:endParaRPr lang="zh-CN" altLang="en-US" sz="5400" b="1">
              <a:latin typeface="微软雅黑" panose="020B0503020204020204" charset="-122"/>
              <a:ea typeface="微软雅黑" panose="020B0503020204020204" charset="-122"/>
              <a:cs typeface="微软雅黑" panose="020B0503020204020204" charset="-122"/>
            </a:endParaRPr>
          </a:p>
          <a:p>
            <a:pPr algn="ctr"/>
            <a:r>
              <a:rPr lang="zh-CN" altLang="en-US" sz="5400" b="1">
                <a:latin typeface="微软雅黑" panose="020B0503020204020204" charset="-122"/>
                <a:ea typeface="微软雅黑" panose="020B0503020204020204" charset="-122"/>
                <a:cs typeface="微软雅黑" panose="020B0503020204020204" charset="-122"/>
              </a:rPr>
              <a:t>分析与计算可复现性检验</a:t>
            </a:r>
            <a:endParaRPr lang="zh-CN" altLang="en-US" sz="5400" b="1">
              <a:latin typeface="微软雅黑" panose="020B0503020204020204" charset="-122"/>
              <a:ea typeface="微软雅黑" panose="020B0503020204020204" charset="-122"/>
              <a:cs typeface="微软雅黑" panose="020B0503020204020204" charset="-122"/>
            </a:endParaRPr>
          </a:p>
        </p:txBody>
      </p:sp>
      <p:pic>
        <p:nvPicPr>
          <p:cNvPr id="2" name="图片 1" descr="南京师范大学（黑）"/>
          <p:cNvPicPr>
            <a:picLocks noChangeAspect="1"/>
          </p:cNvPicPr>
          <p:nvPr/>
        </p:nvPicPr>
        <p:blipFill>
          <a:blip r:embed="rId2"/>
          <a:stretch>
            <a:fillRect/>
          </a:stretch>
        </p:blipFill>
        <p:spPr>
          <a:xfrm>
            <a:off x="3377565" y="-30480"/>
            <a:ext cx="5464282" cy="3862800"/>
          </a:xfrm>
          <a:prstGeom prst="rect">
            <a:avLst/>
          </a:prstGeom>
        </p:spPr>
      </p:pic>
      <p:pic>
        <p:nvPicPr>
          <p:cNvPr id="15" name="图片 14" descr="校徽-绿"/>
          <p:cNvPicPr>
            <a:picLocks noChangeAspect="1"/>
          </p:cNvPicPr>
          <p:nvPr/>
        </p:nvPicPr>
        <p:blipFill>
          <a:blip r:embed="rId3"/>
          <a:stretch>
            <a:fillRect/>
          </a:stretch>
        </p:blipFill>
        <p:spPr>
          <a:xfrm>
            <a:off x="3394075" y="718185"/>
            <a:ext cx="1530985" cy="2166620"/>
          </a:xfrm>
          <a:prstGeom prst="rect">
            <a:avLst/>
          </a:prstGeom>
        </p:spPr>
      </p:pic>
      <p:sp>
        <p:nvSpPr>
          <p:cNvPr id="33" name="椭圆 32"/>
          <p:cNvSpPr/>
          <p:nvPr>
            <p:custDataLst>
              <p:tags r:id="rId4"/>
            </p:custDataLst>
          </p:nvPr>
        </p:nvSpPr>
        <p:spPr>
          <a:xfrm>
            <a:off x="2620645" y="4227830"/>
            <a:ext cx="623570" cy="623570"/>
          </a:xfrm>
          <a:prstGeom prst="ellipse">
            <a:avLst/>
          </a:prstGeom>
          <a:solidFill>
            <a:srgbClr val="006A44"/>
          </a:solidFill>
          <a:ln w="317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pic>
        <p:nvPicPr>
          <p:cNvPr id="27" name="图片 12" descr="343439383331313b343532303032383bbfcdbba7b9dcc0ed"/>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2767965" y="4377055"/>
            <a:ext cx="323215" cy="323215"/>
          </a:xfrm>
          <a:prstGeom prst="rect">
            <a:avLst/>
          </a:prstGeom>
        </p:spPr>
      </p:pic>
      <p:sp>
        <p:nvSpPr>
          <p:cNvPr id="42" name="椭圆 41"/>
          <p:cNvSpPr/>
          <p:nvPr>
            <p:custDataLst>
              <p:tags r:id="rId8"/>
            </p:custDataLst>
          </p:nvPr>
        </p:nvSpPr>
        <p:spPr>
          <a:xfrm>
            <a:off x="6494780" y="4251325"/>
            <a:ext cx="614680" cy="614680"/>
          </a:xfrm>
          <a:prstGeom prst="ellipse">
            <a:avLst/>
          </a:prstGeom>
          <a:solidFill>
            <a:srgbClr val="006A44"/>
          </a:solidFill>
          <a:ln w="317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pic>
        <p:nvPicPr>
          <p:cNvPr id="32" name="图片 19" descr="343435383038363b343532323339393bd6b4d0d0d5aad2aa"/>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6650990" y="4398010"/>
            <a:ext cx="302260" cy="302260"/>
          </a:xfrm>
          <a:prstGeom prst="rect">
            <a:avLst/>
          </a:prstGeom>
        </p:spPr>
      </p:pic>
      <p:sp>
        <p:nvSpPr>
          <p:cNvPr id="7" name="文本框 6"/>
          <p:cNvSpPr txBox="1"/>
          <p:nvPr>
            <p:custDataLst>
              <p:tags r:id="rId12"/>
            </p:custDataLst>
          </p:nvPr>
        </p:nvSpPr>
        <p:spPr>
          <a:xfrm>
            <a:off x="3344545" y="4377055"/>
            <a:ext cx="2116455" cy="39878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2000">
                <a:latin typeface="黑体" panose="02010609060101010101" charset="-122"/>
                <a:ea typeface="黑体" panose="02010609060101010101" charset="-122"/>
              </a:rPr>
              <a:t>答辩人：请输入</a:t>
            </a:r>
            <a:endParaRPr lang="zh-CN" altLang="en-US" sz="2000">
              <a:latin typeface="黑体" panose="02010609060101010101" charset="-122"/>
              <a:ea typeface="黑体" panose="02010609060101010101" charset="-122"/>
            </a:endParaRPr>
          </a:p>
        </p:txBody>
      </p:sp>
      <p:sp>
        <p:nvSpPr>
          <p:cNvPr id="8" name="文本框 7"/>
          <p:cNvSpPr txBox="1"/>
          <p:nvPr>
            <p:custDataLst>
              <p:tags r:id="rId13"/>
            </p:custDataLst>
          </p:nvPr>
        </p:nvSpPr>
        <p:spPr>
          <a:xfrm>
            <a:off x="7241540" y="4370070"/>
            <a:ext cx="2542540" cy="39878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2000">
                <a:latin typeface="黑体" panose="02010609060101010101" charset="-122"/>
                <a:ea typeface="黑体" panose="02010609060101010101" charset="-122"/>
              </a:rPr>
              <a:t>指导老师：请输入</a:t>
            </a:r>
            <a:endParaRPr lang="zh-CN" altLang="en-US" sz="2000">
              <a:latin typeface="黑体" panose="02010609060101010101" charset="-122"/>
              <a:ea typeface="黑体" panose="02010609060101010101" charset="-122"/>
            </a:endParaRPr>
          </a:p>
        </p:txBody>
      </p:sp>
      <p:sp>
        <p:nvSpPr>
          <p:cNvPr id="11" name="文本框 10"/>
          <p:cNvSpPr txBox="1"/>
          <p:nvPr>
            <p:custDataLst>
              <p:tags r:id="rId14"/>
            </p:custDataLst>
          </p:nvPr>
        </p:nvSpPr>
        <p:spPr>
          <a:xfrm>
            <a:off x="4928870" y="5456555"/>
            <a:ext cx="2602865" cy="36830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800">
                <a:latin typeface="黑体" panose="02010609060101010101" charset="-122"/>
                <a:ea typeface="黑体" panose="02010609060101010101" charset="-122"/>
                <a:cs typeface="黑体" panose="02010609060101010101" charset="-122"/>
              </a:rPr>
              <a:t>答辩时间：</a:t>
            </a:r>
            <a:r>
              <a:rPr lang="en-US" altLang="zh-CN" sz="1800">
                <a:latin typeface="黑体" panose="02010609060101010101" charset="-122"/>
                <a:ea typeface="黑体" panose="02010609060101010101" charset="-122"/>
                <a:cs typeface="黑体" panose="02010609060101010101" charset="-122"/>
              </a:rPr>
              <a:t>XX</a:t>
            </a:r>
            <a:r>
              <a:rPr lang="zh-CN" altLang="en-US" sz="1800">
                <a:latin typeface="黑体" panose="02010609060101010101" charset="-122"/>
                <a:ea typeface="黑体" panose="02010609060101010101" charset="-122"/>
                <a:cs typeface="黑体" panose="02010609060101010101" charset="-122"/>
              </a:rPr>
              <a:t>年</a:t>
            </a:r>
            <a:r>
              <a:rPr lang="en-US" altLang="zh-CN" sz="1800">
                <a:latin typeface="黑体" panose="02010609060101010101" charset="-122"/>
                <a:ea typeface="黑体" panose="02010609060101010101" charset="-122"/>
                <a:cs typeface="黑体" panose="02010609060101010101" charset="-122"/>
              </a:rPr>
              <a:t>XX</a:t>
            </a:r>
            <a:r>
              <a:rPr lang="zh-CN" altLang="en-US" sz="1800">
                <a:latin typeface="黑体" panose="02010609060101010101" charset="-122"/>
                <a:ea typeface="黑体" panose="02010609060101010101" charset="-122"/>
                <a:cs typeface="黑体" panose="02010609060101010101" charset="-122"/>
              </a:rPr>
              <a:t>月</a:t>
            </a:r>
            <a:endParaRPr lang="zh-CN" altLang="en-US" sz="180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直角三角形 4"/>
          <p:cNvSpPr/>
          <p:nvPr/>
        </p:nvSpPr>
        <p:spPr>
          <a:xfrm rot="5400000">
            <a:off x="0" y="0"/>
            <a:ext cx="3716655" cy="3716655"/>
          </a:xfrm>
          <a:prstGeom prst="rtTriangle">
            <a:avLst/>
          </a:prstGeom>
          <a:solidFill>
            <a:srgbClr val="006A4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直角三角形 5"/>
          <p:cNvSpPr/>
          <p:nvPr/>
        </p:nvSpPr>
        <p:spPr>
          <a:xfrm rot="16200000">
            <a:off x="8484870" y="3169920"/>
            <a:ext cx="3716655" cy="3716655"/>
          </a:xfrm>
          <a:prstGeom prst="rtTriangle">
            <a:avLst/>
          </a:prstGeom>
          <a:solidFill>
            <a:srgbClr val="006A4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矩形 9"/>
          <p:cNvSpPr/>
          <p:nvPr/>
        </p:nvSpPr>
        <p:spPr>
          <a:xfrm>
            <a:off x="242570" y="680085"/>
            <a:ext cx="11707495" cy="5502275"/>
          </a:xfrm>
          <a:prstGeom prst="rect">
            <a:avLst/>
          </a:prstGeom>
          <a:solidFill>
            <a:schemeClr val="bg1"/>
          </a:solidFill>
          <a:ln>
            <a:noFill/>
          </a:ln>
          <a:effectLst>
            <a:outerShdw blurRad="127000" dist="38100" algn="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矩形 8"/>
          <p:cNvSpPr/>
          <p:nvPr/>
        </p:nvSpPr>
        <p:spPr>
          <a:xfrm>
            <a:off x="242570" y="680085"/>
            <a:ext cx="11707495" cy="5502275"/>
          </a:xfrm>
          <a:prstGeom prst="rect">
            <a:avLst/>
          </a:prstGeom>
          <a:blipFill rotWithShape="1">
            <a:blip r:embed="rId1">
              <a:alphaModFix amt="15000"/>
            </a:blip>
            <a:stretch>
              <a:fillRect/>
            </a:stretch>
          </a:blipFill>
          <a:ln>
            <a:noFill/>
          </a:ln>
          <a:effectLst>
            <a:outerShdw blurRad="127000" dist="63500" algn="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5061585" y="967740"/>
            <a:ext cx="2058035" cy="922020"/>
          </a:xfrm>
          <a:prstGeom prst="rect">
            <a:avLst/>
          </a:prstGeom>
        </p:spPr>
        <p:txBody>
          <a:bodyPr wrap="square">
            <a:spAutoFit/>
            <a:extLst>
              <a:ext uri="{4A0BC546-FE56-4ADE-93B0-CB8AF2F6F144}">
                <wpsdc:textFrameExt xmlns:wpsdc="http://www.wps.cn/officeDocument/2022/drawingmlCustomData" type="text"/>
              </a:ext>
            </a:extLst>
          </a:bodyPr>
          <a:p>
            <a:pPr algn="ctr"/>
            <a:r>
              <a:rPr lang="zh-CN" altLang="en-US" sz="5400">
                <a:latin typeface="黑体" panose="02010609060101010101" charset="-122"/>
                <a:ea typeface="黑体" panose="02010609060101010101" charset="-122"/>
                <a:cs typeface="黑体" panose="02010609060101010101" charset="-122"/>
              </a:rPr>
              <a:t>目录</a:t>
            </a:r>
            <a:endParaRPr lang="zh-CN" altLang="en-US" sz="5400">
              <a:latin typeface="黑体" panose="02010609060101010101" charset="-122"/>
              <a:ea typeface="黑体" panose="02010609060101010101" charset="-122"/>
              <a:cs typeface="黑体" panose="02010609060101010101" charset="-122"/>
            </a:endParaRPr>
          </a:p>
        </p:txBody>
      </p:sp>
      <p:sp>
        <p:nvSpPr>
          <p:cNvPr id="3" name="文本框 2"/>
          <p:cNvSpPr txBox="1"/>
          <p:nvPr/>
        </p:nvSpPr>
        <p:spPr>
          <a:xfrm>
            <a:off x="5415280" y="1725930"/>
            <a:ext cx="1710690" cy="460375"/>
          </a:xfrm>
          <a:prstGeom prst="rect">
            <a:avLst/>
          </a:prstGeom>
        </p:spPr>
        <p:txBody>
          <a:bodyPr wrap="square">
            <a:spAutoFit/>
            <a:extLst>
              <a:ext uri="{4A0BC546-FE56-4ADE-93B0-CB8AF2F6F144}">
                <wpsdc:textFrameExt xmlns:wpsdc="http://www.wps.cn/officeDocument/2022/drawingmlCustomData" type="text"/>
              </a:ext>
            </a:extLst>
          </a:bodyPr>
          <a:p>
            <a:pPr algn="l"/>
            <a:r>
              <a:rPr lang="en-US" altLang="zh-CN" sz="2400">
                <a:latin typeface="黑体" panose="02010609060101010101" charset="-122"/>
                <a:ea typeface="黑体" panose="02010609060101010101" charset="-122"/>
              </a:rPr>
              <a:t>CONTENTS</a:t>
            </a:r>
            <a:endParaRPr lang="en-US" altLang="zh-CN" sz="2400">
              <a:latin typeface="黑体" panose="02010609060101010101" charset="-122"/>
              <a:ea typeface="黑体" panose="02010609060101010101" charset="-122"/>
            </a:endParaRPr>
          </a:p>
        </p:txBody>
      </p:sp>
      <p:sp>
        <p:nvSpPr>
          <p:cNvPr id="13" name="圆角矩形 12"/>
          <p:cNvSpPr/>
          <p:nvPr>
            <p:custDataLst>
              <p:tags r:id="rId2"/>
            </p:custDataLst>
          </p:nvPr>
        </p:nvSpPr>
        <p:spPr>
          <a:xfrm>
            <a:off x="1075690" y="2739390"/>
            <a:ext cx="4551045" cy="833120"/>
          </a:xfrm>
          <a:prstGeom prst="roundRect">
            <a:avLst>
              <a:gd name="adj" fmla="val 50000"/>
            </a:avLst>
          </a:prstGeom>
          <a:solidFill>
            <a:schemeClr val="bg2"/>
          </a:solidFill>
          <a:ln>
            <a:noFill/>
          </a:ln>
          <a:effectLst>
            <a:outerShdw blurRad="254000" dist="38100" dir="2700000" algn="tl" rotWithShape="0">
              <a:schemeClr val="bg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ctr">
            <a:normAutofit/>
          </a:bodyPr>
          <a:p>
            <a:pPr algn="ctr"/>
            <a:endParaRPr lang="zh-CN" altLang="en-US">
              <a:cs typeface="MiSans Normal" panose="00000500000000000000" charset="-122"/>
            </a:endParaRPr>
          </a:p>
        </p:txBody>
      </p:sp>
      <p:sp>
        <p:nvSpPr>
          <p:cNvPr id="16" name="序号"/>
          <p:cNvSpPr txBox="1"/>
          <p:nvPr>
            <p:custDataLst>
              <p:tags r:id="rId3"/>
            </p:custDataLst>
          </p:nvPr>
        </p:nvSpPr>
        <p:spPr>
          <a:xfrm>
            <a:off x="1075690" y="2739390"/>
            <a:ext cx="826770" cy="829310"/>
          </a:xfrm>
          <a:prstGeom prst="ellipse">
            <a:avLst/>
          </a:prstGeom>
          <a:solidFill>
            <a:srgbClr val="006A44"/>
          </a:solidFill>
        </p:spPr>
        <p:txBody>
          <a:bodyPr wrap="none" lIns="0" tIns="0" rIns="0" bIns="0" rtlCol="0" anchor="ctr" anchorCtr="0">
            <a:normAutofit/>
          </a:bodyPr>
          <a:p>
            <a:pPr algn="ctr"/>
            <a:r>
              <a:rPr lang="en-US" altLang="zh-CN" sz="2400">
                <a:solidFill>
                  <a:schemeClr val="lt1"/>
                </a:solidFill>
                <a:latin typeface="黑体" panose="02010609060101010101" charset="-122"/>
                <a:ea typeface="黑体" panose="02010609060101010101" charset="-122"/>
                <a:cs typeface="MiSans Normal" panose="00000500000000000000" charset="-122"/>
              </a:rPr>
              <a:t>01</a:t>
            </a:r>
            <a:endParaRPr lang="en-US" altLang="zh-CN" sz="2400">
              <a:solidFill>
                <a:schemeClr val="lt1"/>
              </a:solidFill>
              <a:latin typeface="黑体" panose="02010609060101010101" charset="-122"/>
              <a:ea typeface="黑体" panose="02010609060101010101" charset="-122"/>
              <a:cs typeface="MiSans Normal" panose="00000500000000000000" charset="-122"/>
            </a:endParaRPr>
          </a:p>
        </p:txBody>
      </p:sp>
      <p:sp>
        <p:nvSpPr>
          <p:cNvPr id="17" name="标题"/>
          <p:cNvSpPr txBox="1"/>
          <p:nvPr>
            <p:custDataLst>
              <p:tags r:id="rId4"/>
            </p:custDataLst>
          </p:nvPr>
        </p:nvSpPr>
        <p:spPr>
          <a:xfrm>
            <a:off x="2317115" y="2739390"/>
            <a:ext cx="3437255" cy="838835"/>
          </a:xfrm>
          <a:prstGeom prst="rect">
            <a:avLst/>
          </a:prstGeom>
          <a:noFill/>
        </p:spPr>
        <p:txBody>
          <a:bodyPr wrap="square" lIns="91440" tIns="0" rIns="91440" bIns="0" rtlCol="0" anchor="ctr" anchorCtr="0">
            <a:normAutofit/>
          </a:bodyPr>
          <a:p>
            <a:pPr lvl="0" algn="l">
              <a:buClrTx/>
              <a:buSzTx/>
              <a:buFontTx/>
            </a:pPr>
            <a:r>
              <a:rPr lang="zh-CN" altLang="en-US" sz="2400" spc="200" dirty="0">
                <a:solidFill>
                  <a:schemeClr val="tx1">
                    <a:lumMod val="85000"/>
                    <a:lumOff val="15000"/>
                  </a:schemeClr>
                </a:solidFill>
                <a:uFillTx/>
                <a:latin typeface="黑体" panose="02010609060101010101" charset="-122"/>
                <a:ea typeface="黑体" panose="02010609060101010101" charset="-122"/>
                <a:cs typeface="MiSans Normal" panose="00000500000000000000" charset="-122"/>
                <a:sym typeface="+mn-ea"/>
              </a:rPr>
              <a:t>研究一</a:t>
            </a:r>
            <a:endParaRPr lang="zh-CN" altLang="en-US" sz="2400" spc="200" dirty="0">
              <a:solidFill>
                <a:schemeClr val="tx1">
                  <a:lumMod val="85000"/>
                  <a:lumOff val="15000"/>
                </a:schemeClr>
              </a:solidFill>
              <a:uFillTx/>
              <a:latin typeface="黑体" panose="02010609060101010101" charset="-122"/>
              <a:ea typeface="黑体" panose="02010609060101010101" charset="-122"/>
              <a:cs typeface="MiSans Normal" panose="00000500000000000000" charset="-122"/>
              <a:sym typeface="+mn-ea"/>
            </a:endParaRPr>
          </a:p>
        </p:txBody>
      </p:sp>
      <p:sp>
        <p:nvSpPr>
          <p:cNvPr id="18" name="圆角矩形 17"/>
          <p:cNvSpPr/>
          <p:nvPr>
            <p:custDataLst>
              <p:tags r:id="rId5"/>
            </p:custDataLst>
          </p:nvPr>
        </p:nvSpPr>
        <p:spPr>
          <a:xfrm>
            <a:off x="6502400" y="2739390"/>
            <a:ext cx="4551045" cy="833120"/>
          </a:xfrm>
          <a:prstGeom prst="roundRect">
            <a:avLst>
              <a:gd name="adj" fmla="val 50000"/>
            </a:avLst>
          </a:prstGeom>
          <a:solidFill>
            <a:schemeClr val="bg2"/>
          </a:solidFill>
          <a:ln>
            <a:noFill/>
          </a:ln>
          <a:effectLst>
            <a:outerShdw blurRad="254000" dist="38100" dir="2700000" algn="tl" rotWithShape="0">
              <a:schemeClr val="bg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ctr">
            <a:normAutofit/>
          </a:bodyPr>
          <a:p>
            <a:pPr algn="ctr"/>
            <a:endParaRPr lang="zh-CN" altLang="en-US">
              <a:cs typeface="MiSans Normal" panose="00000500000000000000" charset="-122"/>
            </a:endParaRPr>
          </a:p>
        </p:txBody>
      </p:sp>
      <p:sp>
        <p:nvSpPr>
          <p:cNvPr id="19" name="序号"/>
          <p:cNvSpPr txBox="1"/>
          <p:nvPr>
            <p:custDataLst>
              <p:tags r:id="rId6"/>
            </p:custDataLst>
          </p:nvPr>
        </p:nvSpPr>
        <p:spPr>
          <a:xfrm>
            <a:off x="6502400" y="2739390"/>
            <a:ext cx="826770" cy="829310"/>
          </a:xfrm>
          <a:prstGeom prst="ellipse">
            <a:avLst/>
          </a:prstGeom>
          <a:solidFill>
            <a:srgbClr val="006A44"/>
          </a:solidFill>
        </p:spPr>
        <p:txBody>
          <a:bodyPr wrap="none" lIns="0" tIns="0" rIns="0" bIns="0" rtlCol="0" anchor="ctr" anchorCtr="0">
            <a:normAutofit/>
          </a:bodyPr>
          <a:p>
            <a:pPr algn="ctr"/>
            <a:r>
              <a:rPr lang="en-US" altLang="zh-CN" sz="2400">
                <a:solidFill>
                  <a:schemeClr val="lt1"/>
                </a:solidFill>
                <a:latin typeface="黑体" panose="02010609060101010101" charset="-122"/>
                <a:ea typeface="黑体" panose="02010609060101010101" charset="-122"/>
                <a:cs typeface="MiSans Normal" panose="00000500000000000000" charset="-122"/>
              </a:rPr>
              <a:t>02</a:t>
            </a:r>
            <a:endParaRPr lang="en-US" altLang="zh-CN" sz="2400">
              <a:solidFill>
                <a:schemeClr val="lt1"/>
              </a:solidFill>
              <a:latin typeface="黑体" panose="02010609060101010101" charset="-122"/>
              <a:ea typeface="黑体" panose="02010609060101010101" charset="-122"/>
              <a:cs typeface="MiSans Normal" panose="00000500000000000000" charset="-122"/>
            </a:endParaRPr>
          </a:p>
        </p:txBody>
      </p:sp>
      <p:sp>
        <p:nvSpPr>
          <p:cNvPr id="20" name="标题"/>
          <p:cNvSpPr txBox="1"/>
          <p:nvPr>
            <p:custDataLst>
              <p:tags r:id="rId7"/>
            </p:custDataLst>
          </p:nvPr>
        </p:nvSpPr>
        <p:spPr>
          <a:xfrm>
            <a:off x="7743825" y="2739390"/>
            <a:ext cx="3437255" cy="833120"/>
          </a:xfrm>
          <a:prstGeom prst="rect">
            <a:avLst/>
          </a:prstGeom>
          <a:noFill/>
        </p:spPr>
        <p:txBody>
          <a:bodyPr wrap="square" lIns="91440" tIns="0" rIns="91440" bIns="0" rtlCol="0" anchor="ctr" anchorCtr="0">
            <a:normAutofit/>
          </a:bodyPr>
          <a:p>
            <a:pPr lvl="0" algn="l">
              <a:buClrTx/>
              <a:buSzTx/>
              <a:buFontTx/>
            </a:pPr>
            <a:r>
              <a:rPr lang="zh-CN" altLang="en-US" sz="2400" spc="200">
                <a:solidFill>
                  <a:schemeClr val="tx1">
                    <a:lumMod val="85000"/>
                    <a:lumOff val="15000"/>
                  </a:schemeClr>
                </a:solidFill>
                <a:uFillTx/>
                <a:latin typeface="黑体" panose="02010609060101010101" charset="-122"/>
                <a:ea typeface="黑体" panose="02010609060101010101" charset="-122"/>
                <a:cs typeface="MiSans Normal" panose="00000500000000000000" charset="-122"/>
                <a:sym typeface="+mn-ea"/>
              </a:rPr>
              <a:t>研究二</a:t>
            </a:r>
            <a:endParaRPr lang="zh-CN" altLang="en-US" sz="2400" spc="200">
              <a:solidFill>
                <a:schemeClr val="tx1">
                  <a:lumMod val="85000"/>
                  <a:lumOff val="15000"/>
                </a:schemeClr>
              </a:solidFill>
              <a:uFillTx/>
              <a:latin typeface="黑体" panose="02010609060101010101" charset="-122"/>
              <a:ea typeface="黑体" panose="02010609060101010101" charset="-122"/>
              <a:cs typeface="MiSans Normal" panose="00000500000000000000" charset="-122"/>
              <a:sym typeface="+mn-ea"/>
            </a:endParaRPr>
          </a:p>
        </p:txBody>
      </p:sp>
      <p:sp>
        <p:nvSpPr>
          <p:cNvPr id="34" name="圆角矩形 33"/>
          <p:cNvSpPr/>
          <p:nvPr>
            <p:custDataLst>
              <p:tags r:id="rId8"/>
            </p:custDataLst>
          </p:nvPr>
        </p:nvSpPr>
        <p:spPr>
          <a:xfrm>
            <a:off x="1075055" y="4333875"/>
            <a:ext cx="4551045" cy="833120"/>
          </a:xfrm>
          <a:prstGeom prst="roundRect">
            <a:avLst>
              <a:gd name="adj" fmla="val 50000"/>
            </a:avLst>
          </a:prstGeom>
          <a:solidFill>
            <a:schemeClr val="bg2"/>
          </a:solidFill>
          <a:ln>
            <a:noFill/>
          </a:ln>
          <a:effectLst>
            <a:outerShdw blurRad="254000" dist="38100" dir="2700000" algn="tl" rotWithShape="0">
              <a:schemeClr val="bg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ctr">
            <a:normAutofit/>
          </a:bodyPr>
          <a:p>
            <a:pPr algn="ctr"/>
            <a:endParaRPr lang="zh-CN" altLang="en-US">
              <a:cs typeface="MiSans Normal" panose="00000500000000000000" charset="-122"/>
            </a:endParaRPr>
          </a:p>
        </p:txBody>
      </p:sp>
      <p:sp>
        <p:nvSpPr>
          <p:cNvPr id="35" name="序号"/>
          <p:cNvSpPr txBox="1"/>
          <p:nvPr>
            <p:custDataLst>
              <p:tags r:id="rId9"/>
            </p:custDataLst>
          </p:nvPr>
        </p:nvSpPr>
        <p:spPr>
          <a:xfrm>
            <a:off x="1075055" y="4333875"/>
            <a:ext cx="826770" cy="829310"/>
          </a:xfrm>
          <a:prstGeom prst="ellipse">
            <a:avLst/>
          </a:prstGeom>
          <a:solidFill>
            <a:srgbClr val="006A44"/>
          </a:solidFill>
        </p:spPr>
        <p:txBody>
          <a:bodyPr wrap="none" lIns="0" tIns="0" rIns="0" bIns="0" rtlCol="0" anchor="ctr" anchorCtr="0">
            <a:normAutofit/>
          </a:bodyPr>
          <a:p>
            <a:pPr algn="ctr"/>
            <a:r>
              <a:rPr lang="en-US" altLang="zh-CN" sz="2400">
                <a:solidFill>
                  <a:schemeClr val="lt1"/>
                </a:solidFill>
                <a:latin typeface="黑体" panose="02010609060101010101" charset="-122"/>
                <a:ea typeface="黑体" panose="02010609060101010101" charset="-122"/>
                <a:cs typeface="MiSans Normal" panose="00000500000000000000" charset="-122"/>
              </a:rPr>
              <a:t>03</a:t>
            </a:r>
            <a:endParaRPr lang="en-US" altLang="zh-CN" sz="2400">
              <a:solidFill>
                <a:schemeClr val="lt1"/>
              </a:solidFill>
              <a:latin typeface="黑体" panose="02010609060101010101" charset="-122"/>
              <a:ea typeface="黑体" panose="02010609060101010101" charset="-122"/>
              <a:cs typeface="MiSans Normal" panose="00000500000000000000" charset="-122"/>
            </a:endParaRPr>
          </a:p>
        </p:txBody>
      </p:sp>
      <p:sp>
        <p:nvSpPr>
          <p:cNvPr id="36" name="标题"/>
          <p:cNvSpPr txBox="1"/>
          <p:nvPr>
            <p:custDataLst>
              <p:tags r:id="rId10"/>
            </p:custDataLst>
          </p:nvPr>
        </p:nvSpPr>
        <p:spPr>
          <a:xfrm>
            <a:off x="2316480" y="4333875"/>
            <a:ext cx="3437255" cy="831215"/>
          </a:xfrm>
          <a:prstGeom prst="rect">
            <a:avLst/>
          </a:prstGeom>
          <a:noFill/>
        </p:spPr>
        <p:txBody>
          <a:bodyPr wrap="square" lIns="91440" tIns="0" rIns="91440" bIns="0" rtlCol="0" anchor="ctr" anchorCtr="0">
            <a:normAutofit/>
          </a:bodyPr>
          <a:p>
            <a:pPr lvl="0" algn="l">
              <a:buClrTx/>
              <a:buSzTx/>
              <a:buFontTx/>
            </a:pPr>
            <a:r>
              <a:rPr lang="zh-CN" altLang="en-US" sz="2400" spc="200">
                <a:solidFill>
                  <a:schemeClr val="tx1">
                    <a:lumMod val="85000"/>
                    <a:lumOff val="15000"/>
                  </a:schemeClr>
                </a:solidFill>
                <a:uFillTx/>
                <a:latin typeface="黑体" panose="02010609060101010101" charset="-122"/>
                <a:ea typeface="黑体" panose="02010609060101010101" charset="-122"/>
                <a:cs typeface="MiSans Normal" panose="00000500000000000000" charset="-122"/>
                <a:sym typeface="+mn-ea"/>
              </a:rPr>
              <a:t>研究三</a:t>
            </a:r>
            <a:endParaRPr lang="zh-CN" altLang="en-US" sz="2400" spc="200">
              <a:solidFill>
                <a:schemeClr val="tx1">
                  <a:lumMod val="85000"/>
                  <a:lumOff val="15000"/>
                </a:schemeClr>
              </a:solidFill>
              <a:uFillTx/>
              <a:latin typeface="黑体" panose="02010609060101010101" charset="-122"/>
              <a:ea typeface="黑体" panose="02010609060101010101" charset="-122"/>
              <a:cs typeface="MiSans Normal" panose="00000500000000000000" charset="-122"/>
              <a:sym typeface="+mn-ea"/>
            </a:endParaRPr>
          </a:p>
        </p:txBody>
      </p:sp>
      <p:sp>
        <p:nvSpPr>
          <p:cNvPr id="38" name="圆角矩形 37"/>
          <p:cNvSpPr/>
          <p:nvPr>
            <p:custDataLst>
              <p:tags r:id="rId11"/>
            </p:custDataLst>
          </p:nvPr>
        </p:nvSpPr>
        <p:spPr>
          <a:xfrm>
            <a:off x="6502400" y="4333875"/>
            <a:ext cx="4551045" cy="833120"/>
          </a:xfrm>
          <a:prstGeom prst="roundRect">
            <a:avLst>
              <a:gd name="adj" fmla="val 50000"/>
            </a:avLst>
          </a:prstGeom>
          <a:solidFill>
            <a:schemeClr val="bg2"/>
          </a:solidFill>
          <a:ln>
            <a:noFill/>
          </a:ln>
          <a:effectLst>
            <a:outerShdw blurRad="254000" dist="38100" dir="2700000" algn="tl" rotWithShape="0">
              <a:schemeClr val="bg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ctr">
            <a:normAutofit/>
          </a:bodyPr>
          <a:p>
            <a:pPr algn="ctr"/>
            <a:endParaRPr lang="zh-CN" altLang="en-US">
              <a:cs typeface="MiSans Normal" panose="00000500000000000000" charset="-122"/>
            </a:endParaRPr>
          </a:p>
        </p:txBody>
      </p:sp>
      <p:sp>
        <p:nvSpPr>
          <p:cNvPr id="39" name="序号"/>
          <p:cNvSpPr txBox="1"/>
          <p:nvPr>
            <p:custDataLst>
              <p:tags r:id="rId12"/>
            </p:custDataLst>
          </p:nvPr>
        </p:nvSpPr>
        <p:spPr>
          <a:xfrm>
            <a:off x="6502400" y="4333875"/>
            <a:ext cx="826770" cy="829310"/>
          </a:xfrm>
          <a:prstGeom prst="ellipse">
            <a:avLst/>
          </a:prstGeom>
          <a:solidFill>
            <a:srgbClr val="006A44"/>
          </a:solidFill>
        </p:spPr>
        <p:txBody>
          <a:bodyPr wrap="none" lIns="0" tIns="0" rIns="0" bIns="0" rtlCol="0" anchor="ctr" anchorCtr="0">
            <a:normAutofit/>
          </a:bodyPr>
          <a:p>
            <a:pPr algn="ctr"/>
            <a:r>
              <a:rPr lang="en-US" altLang="zh-CN" sz="2400">
                <a:solidFill>
                  <a:schemeClr val="lt1"/>
                </a:solidFill>
                <a:latin typeface="黑体" panose="02010609060101010101" charset="-122"/>
                <a:ea typeface="黑体" panose="02010609060101010101" charset="-122"/>
                <a:cs typeface="MiSans Normal" panose="00000500000000000000" charset="-122"/>
              </a:rPr>
              <a:t>04</a:t>
            </a:r>
            <a:endParaRPr lang="en-US" altLang="zh-CN" sz="2400">
              <a:solidFill>
                <a:schemeClr val="lt1"/>
              </a:solidFill>
              <a:latin typeface="黑体" panose="02010609060101010101" charset="-122"/>
              <a:ea typeface="黑体" panose="02010609060101010101" charset="-122"/>
              <a:cs typeface="MiSans Normal" panose="00000500000000000000" charset="-122"/>
            </a:endParaRPr>
          </a:p>
        </p:txBody>
      </p:sp>
      <p:sp>
        <p:nvSpPr>
          <p:cNvPr id="40" name="标题"/>
          <p:cNvSpPr txBox="1"/>
          <p:nvPr>
            <p:custDataLst>
              <p:tags r:id="rId13"/>
            </p:custDataLst>
          </p:nvPr>
        </p:nvSpPr>
        <p:spPr>
          <a:xfrm>
            <a:off x="7743825" y="4333875"/>
            <a:ext cx="3437255" cy="823595"/>
          </a:xfrm>
          <a:prstGeom prst="rect">
            <a:avLst/>
          </a:prstGeom>
          <a:noFill/>
        </p:spPr>
        <p:txBody>
          <a:bodyPr wrap="square" lIns="91440" tIns="0" rIns="91440" bIns="0" rtlCol="0" anchor="ctr" anchorCtr="0">
            <a:normAutofit/>
          </a:bodyPr>
          <a:p>
            <a:pPr lvl="0" algn="l">
              <a:buClrTx/>
              <a:buSzTx/>
              <a:buFontTx/>
            </a:pPr>
            <a:r>
              <a:rPr lang="zh-CN" altLang="en-US" sz="2400" spc="200">
                <a:solidFill>
                  <a:schemeClr val="tx1">
                    <a:lumMod val="85000"/>
                    <a:lumOff val="15000"/>
                  </a:schemeClr>
                </a:solidFill>
                <a:uFillTx/>
                <a:latin typeface="黑体" panose="02010609060101010101" charset="-122"/>
                <a:ea typeface="黑体" panose="02010609060101010101" charset="-122"/>
                <a:cs typeface="MiSans Normal" panose="00000500000000000000" charset="-122"/>
                <a:sym typeface="+mn-ea"/>
              </a:rPr>
              <a:t>研究四</a:t>
            </a:r>
            <a:endParaRPr lang="zh-CN" altLang="en-US" sz="2400" spc="200">
              <a:solidFill>
                <a:schemeClr val="tx1">
                  <a:lumMod val="85000"/>
                  <a:lumOff val="15000"/>
                </a:schemeClr>
              </a:solidFill>
              <a:uFillTx/>
              <a:latin typeface="黑体" panose="02010609060101010101" charset="-122"/>
              <a:ea typeface="黑体" panose="02010609060101010101" charset="-122"/>
              <a:cs typeface="MiSans Normal" panose="00000500000000000000"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5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500"/>
                                        <p:tgtEl>
                                          <p:spTgt spid="3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500"/>
                                        <p:tgtEl>
                                          <p:spTgt spid="3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500"/>
                                        <p:tgtEl>
                                          <p:spTgt spid="3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500"/>
                                        <p:tgtEl>
                                          <p:spTgt spid="3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fade">
                                      <p:cBhvr>
                                        <p:cTn id="43" dur="500"/>
                                        <p:tgtEl>
                                          <p:spTgt spid="4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P spid="17" grpId="0"/>
      <p:bldP spid="13" grpId="1" animBg="1"/>
      <p:bldP spid="16" grpId="1" animBg="1"/>
      <p:bldP spid="17" grpId="1"/>
      <p:bldP spid="20" grpId="0"/>
      <p:bldP spid="19" grpId="0" animBg="1"/>
      <p:bldP spid="18" grpId="0" animBg="1"/>
      <p:bldP spid="20" grpId="1"/>
      <p:bldP spid="19" grpId="1" animBg="1"/>
      <p:bldP spid="18" grpId="1" animBg="1"/>
      <p:bldP spid="36" grpId="0"/>
      <p:bldP spid="35" grpId="0" animBg="1"/>
      <p:bldP spid="34" grpId="0" animBg="1"/>
      <p:bldP spid="36" grpId="1"/>
      <p:bldP spid="35" grpId="1" animBg="1"/>
      <p:bldP spid="34" grpId="1" animBg="1"/>
      <p:bldP spid="39" grpId="0" animBg="1"/>
      <p:bldP spid="40" grpId="0"/>
      <p:bldP spid="38" grpId="0" animBg="1"/>
      <p:bldP spid="39" grpId="1" animBg="1"/>
      <p:bldP spid="40" grpId="1"/>
      <p:bldP spid="38"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9" name="图片 28" descr="C:/Users/huanglanlan/Desktop/23-秋-新媒体图库/武东林/微信图片_20231204164121.jpg微信图片_20231204164121"/>
          <p:cNvPicPr preferRelativeResize="0">
            <a:picLocks noChangeAspect="1"/>
          </p:cNvPicPr>
          <p:nvPr/>
        </p:nvPicPr>
        <p:blipFill>
          <a:blip r:embed="rId1">
            <a:alphaModFix amt="20000"/>
          </a:blip>
          <a:srcRect l="116" r="116"/>
          <a:stretch>
            <a:fillRect/>
          </a:stretch>
        </p:blipFill>
        <p:spPr>
          <a:xfrm>
            <a:off x="0" y="0"/>
            <a:ext cx="12192000" cy="6858000"/>
          </a:xfrm>
          <a:prstGeom prst="rect">
            <a:avLst/>
          </a:prstGeom>
          <a:noFill/>
        </p:spPr>
      </p:pic>
      <p:sp>
        <p:nvSpPr>
          <p:cNvPr id="2" name="矩形 1"/>
          <p:cNvSpPr/>
          <p:nvPr/>
        </p:nvSpPr>
        <p:spPr>
          <a:xfrm>
            <a:off x="0" y="0"/>
            <a:ext cx="12192000" cy="740410"/>
          </a:xfrm>
          <a:prstGeom prst="rect">
            <a:avLst/>
          </a:prstGeom>
          <a:solidFill>
            <a:srgbClr val="006A4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等腰三角形 10"/>
          <p:cNvSpPr/>
          <p:nvPr/>
        </p:nvSpPr>
        <p:spPr>
          <a:xfrm>
            <a:off x="2543886" y="4083216"/>
            <a:ext cx="1053605" cy="981782"/>
          </a:xfrm>
          <a:prstGeom prst="triangle">
            <a:avLst/>
          </a:prstGeom>
          <a:solidFill>
            <a:srgbClr val="00B050"/>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等腰三角形 7"/>
          <p:cNvSpPr/>
          <p:nvPr/>
        </p:nvSpPr>
        <p:spPr>
          <a:xfrm rot="10800000">
            <a:off x="1765688" y="2104426"/>
            <a:ext cx="2609342" cy="2431466"/>
          </a:xfrm>
          <a:prstGeom prst="triangle">
            <a:avLst/>
          </a:prstGeom>
          <a:solidFill>
            <a:srgbClr val="006A4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cxnSp>
        <p:nvCxnSpPr>
          <p:cNvPr id="12" name="直接连接符 11"/>
          <p:cNvCxnSpPr/>
          <p:nvPr/>
        </p:nvCxnSpPr>
        <p:spPr>
          <a:xfrm>
            <a:off x="1666128" y="1316355"/>
            <a:ext cx="598170" cy="1118870"/>
          </a:xfrm>
          <a:prstGeom prst="line">
            <a:avLst/>
          </a:prstGeom>
          <a:ln w="19050">
            <a:solidFill>
              <a:srgbClr val="92D050">
                <a:alpha val="70000"/>
              </a:srgb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1917828" y="3394615"/>
            <a:ext cx="501126" cy="932513"/>
          </a:xfrm>
          <a:prstGeom prst="line">
            <a:avLst/>
          </a:prstGeom>
          <a:ln w="19050">
            <a:solidFill>
              <a:srgbClr val="92D050">
                <a:alpha val="80000"/>
              </a:srgbClr>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2594892" y="2552824"/>
            <a:ext cx="944880" cy="1014730"/>
          </a:xfrm>
          <a:prstGeom prst="rect">
            <a:avLst/>
          </a:prstGeom>
          <a:noFill/>
        </p:spPr>
        <p:txBody>
          <a:bodyPr wrap="none" rtlCol="0">
            <a:spAutoFit/>
          </a:bodyPr>
          <a:p>
            <a:pPr algn="ctr"/>
            <a:r>
              <a:rPr lang="en-US" altLang="zh-CN" sz="6000" dirty="0">
                <a:solidFill>
                  <a:schemeClr val="bg1"/>
                </a:solidFill>
                <a:effectLst>
                  <a:outerShdw blurRad="25400" dist="25400" dir="2700000" algn="tl">
                    <a:srgbClr val="000000">
                      <a:alpha val="20000"/>
                    </a:srgbClr>
                  </a:outerShdw>
                </a:effectLst>
                <a:latin typeface="黑体" panose="02010609060101010101" charset="-122"/>
                <a:ea typeface="黑体" panose="02010609060101010101" charset="-122"/>
              </a:rPr>
              <a:t>03</a:t>
            </a:r>
            <a:endParaRPr lang="zh-CN" altLang="en-US" sz="6000" dirty="0">
              <a:solidFill>
                <a:schemeClr val="bg1"/>
              </a:solidFill>
              <a:effectLst>
                <a:outerShdw blurRad="25400" dist="25400" dir="2700000" algn="tl">
                  <a:srgbClr val="000000">
                    <a:alpha val="20000"/>
                  </a:srgbClr>
                </a:outerShdw>
              </a:effectLst>
              <a:latin typeface="黑体" panose="02010609060101010101" charset="-122"/>
              <a:ea typeface="黑体" panose="02010609060101010101" charset="-122"/>
            </a:endParaRPr>
          </a:p>
        </p:txBody>
      </p:sp>
      <p:sp>
        <p:nvSpPr>
          <p:cNvPr id="37" name="文本框 36"/>
          <p:cNvSpPr txBox="1"/>
          <p:nvPr/>
        </p:nvSpPr>
        <p:spPr>
          <a:xfrm>
            <a:off x="2608152" y="2273386"/>
            <a:ext cx="914240" cy="368300"/>
          </a:xfrm>
          <a:prstGeom prst="rect">
            <a:avLst/>
          </a:prstGeom>
          <a:noFill/>
        </p:spPr>
        <p:txBody>
          <a:bodyPr wrap="square" rtlCol="0">
            <a:spAutoFit/>
          </a:bodyPr>
          <a:p>
            <a:pPr algn="dist"/>
            <a:r>
              <a:rPr lang="en-US" altLang="zh-CN" dirty="0">
                <a:solidFill>
                  <a:schemeClr val="bg1"/>
                </a:solidFill>
                <a:effectLst>
                  <a:outerShdw blurRad="25400" dist="25400" dir="2700000" algn="tl">
                    <a:srgbClr val="000000">
                      <a:alpha val="20000"/>
                    </a:srgbClr>
                  </a:outerShdw>
                </a:effectLst>
                <a:latin typeface="黑体" panose="02010609060101010101" charset="-122"/>
                <a:ea typeface="黑体" panose="02010609060101010101" charset="-122"/>
              </a:rPr>
              <a:t>PART</a:t>
            </a:r>
            <a:endParaRPr lang="zh-CN" altLang="en-US" dirty="0">
              <a:solidFill>
                <a:schemeClr val="bg1"/>
              </a:solidFill>
              <a:effectLst>
                <a:outerShdw blurRad="25400" dist="25400" dir="2700000" algn="tl">
                  <a:srgbClr val="000000">
                    <a:alpha val="20000"/>
                  </a:srgbClr>
                </a:outerShdw>
              </a:effectLst>
              <a:latin typeface="黑体" panose="02010609060101010101" charset="-122"/>
              <a:ea typeface="黑体" panose="02010609060101010101" charset="-122"/>
            </a:endParaRPr>
          </a:p>
        </p:txBody>
      </p:sp>
      <p:sp>
        <p:nvSpPr>
          <p:cNvPr id="22" name="等腰三角形 21"/>
          <p:cNvSpPr/>
          <p:nvPr/>
        </p:nvSpPr>
        <p:spPr>
          <a:xfrm>
            <a:off x="3683706" y="1857963"/>
            <a:ext cx="552596" cy="514927"/>
          </a:xfrm>
          <a:prstGeom prst="triangle">
            <a:avLst/>
          </a:prstGeom>
          <a:solidFill>
            <a:srgbClr val="00B050"/>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3" name="直接连接符 22"/>
          <p:cNvCxnSpPr/>
          <p:nvPr/>
        </p:nvCxnSpPr>
        <p:spPr>
          <a:xfrm>
            <a:off x="3834544" y="3909190"/>
            <a:ext cx="250563" cy="466257"/>
          </a:xfrm>
          <a:prstGeom prst="line">
            <a:avLst/>
          </a:prstGeom>
          <a:ln w="19050">
            <a:solidFill>
              <a:srgbClr val="92D050">
                <a:alpha val="80000"/>
              </a:srgbClr>
            </a:solidFill>
          </a:ln>
        </p:spPr>
        <p:style>
          <a:lnRef idx="1">
            <a:schemeClr val="accent1"/>
          </a:lnRef>
          <a:fillRef idx="0">
            <a:schemeClr val="accent1"/>
          </a:fillRef>
          <a:effectRef idx="0">
            <a:schemeClr val="accent1"/>
          </a:effectRef>
          <a:fontRef idx="minor">
            <a:schemeClr val="tx1"/>
          </a:fontRef>
        </p:style>
      </p:cxnSp>
      <p:pic>
        <p:nvPicPr>
          <p:cNvPr id="27" name="图片 26" descr="校徽+南京师范大学(白)"/>
          <p:cNvPicPr>
            <a:picLocks noChangeAspect="1"/>
          </p:cNvPicPr>
          <p:nvPr/>
        </p:nvPicPr>
        <p:blipFill>
          <a:blip r:embed="rId2"/>
          <a:stretch>
            <a:fillRect/>
          </a:stretch>
        </p:blipFill>
        <p:spPr>
          <a:xfrm>
            <a:off x="9270365" y="-627380"/>
            <a:ext cx="2919095" cy="2063750"/>
          </a:xfrm>
          <a:prstGeom prst="rect">
            <a:avLst/>
          </a:prstGeom>
        </p:spPr>
      </p:pic>
      <p:sp>
        <p:nvSpPr>
          <p:cNvPr id="24" name="等腰三角形 23"/>
          <p:cNvSpPr/>
          <p:nvPr/>
        </p:nvSpPr>
        <p:spPr>
          <a:xfrm rot="10800000">
            <a:off x="2177642" y="1588259"/>
            <a:ext cx="308065" cy="287065"/>
          </a:xfrm>
          <a:prstGeom prst="triangle">
            <a:avLst/>
          </a:prstGeom>
          <a:solidFill>
            <a:srgbClr val="006A4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矩形 24"/>
          <p:cNvSpPr/>
          <p:nvPr/>
        </p:nvSpPr>
        <p:spPr>
          <a:xfrm>
            <a:off x="0" y="6374765"/>
            <a:ext cx="12192000" cy="483235"/>
          </a:xfrm>
          <a:prstGeom prst="rect">
            <a:avLst/>
          </a:prstGeom>
          <a:solidFill>
            <a:srgbClr val="006A4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文本框 27"/>
          <p:cNvSpPr txBox="1"/>
          <p:nvPr/>
        </p:nvSpPr>
        <p:spPr>
          <a:xfrm>
            <a:off x="4543425" y="2465705"/>
            <a:ext cx="7204710" cy="144526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4800" b="1">
                <a:latin typeface="黑体" panose="02010609060101010101" charset="-122"/>
                <a:ea typeface="黑体" panose="02010609060101010101" charset="-122"/>
                <a:cs typeface="黑体" panose="02010609060101010101" charset="-122"/>
              </a:rPr>
              <a:t>研究一</a:t>
            </a:r>
            <a:r>
              <a:rPr lang="zh-CN" altLang="en-US" sz="4800">
                <a:latin typeface="黑体" panose="02010609060101010101" charset="-122"/>
                <a:ea typeface="黑体" panose="02010609060101010101" charset="-122"/>
                <a:cs typeface="黑体" panose="02010609060101010101" charset="-122"/>
              </a:rPr>
              <a:t>：</a:t>
            </a:r>
            <a:endParaRPr lang="zh-CN" altLang="en-US" sz="4800">
              <a:latin typeface="黑体" panose="02010609060101010101" charset="-122"/>
              <a:ea typeface="黑体" panose="02010609060101010101" charset="-122"/>
              <a:cs typeface="黑体" panose="02010609060101010101" charset="-122"/>
            </a:endParaRPr>
          </a:p>
          <a:p>
            <a:pPr algn="l"/>
            <a:r>
              <a:rPr lang="zh-CN" altLang="en-US" sz="4000">
                <a:latin typeface="黑体" panose="02010609060101010101" charset="-122"/>
                <a:ea typeface="黑体" panose="02010609060101010101" charset="-122"/>
                <a:cs typeface="黑体" panose="02010609060101010101" charset="-122"/>
              </a:rPr>
              <a:t>分析美国媒体关于独处的论述</a:t>
            </a:r>
            <a:endParaRPr lang="zh-CN" altLang="en-US" sz="4000">
              <a:latin typeface="黑体" panose="02010609060101010101" charset="-122"/>
              <a:ea typeface="黑体" panose="02010609060101010101" charset="-122"/>
              <a:cs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2" presetClass="entr" presetSubtype="12"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0-#ppt_w/2"/>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par>
                                <p:cTn id="14" presetID="2" presetClass="entr" presetSubtype="9"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0-#ppt_w/2"/>
                                          </p:val>
                                        </p:tav>
                                        <p:tav tm="100000">
                                          <p:val>
                                            <p:strVal val="#ppt_x"/>
                                          </p:val>
                                        </p:tav>
                                      </p:tavLst>
                                    </p:anim>
                                    <p:anim calcmode="lin" valueType="num">
                                      <p:cBhvr additive="base">
                                        <p:cTn id="17" dur="500" fill="hold"/>
                                        <p:tgtEl>
                                          <p:spTgt spid="12"/>
                                        </p:tgtEl>
                                        <p:attrNameLst>
                                          <p:attrName>ppt_y</p:attrName>
                                        </p:attrNameLst>
                                      </p:cBhvr>
                                      <p:tavLst>
                                        <p:tav tm="0">
                                          <p:val>
                                            <p:strVal val="0-#ppt_h/2"/>
                                          </p:val>
                                        </p:tav>
                                        <p:tav tm="100000">
                                          <p:val>
                                            <p:strVal val="#ppt_y"/>
                                          </p:val>
                                        </p:tav>
                                      </p:tavLst>
                                    </p:anim>
                                  </p:childTnLst>
                                </p:cTn>
                              </p:par>
                              <p:par>
                                <p:cTn id="18" presetID="2" presetClass="entr" presetSubtype="6"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additive="base">
                                        <p:cTn id="20" dur="500" fill="hold"/>
                                        <p:tgtEl>
                                          <p:spTgt spid="15"/>
                                        </p:tgtEl>
                                        <p:attrNameLst>
                                          <p:attrName>ppt_x</p:attrName>
                                        </p:attrNameLst>
                                      </p:cBhvr>
                                      <p:tavLst>
                                        <p:tav tm="0">
                                          <p:val>
                                            <p:strVal val="1+#ppt_w/2"/>
                                          </p:val>
                                        </p:tav>
                                        <p:tav tm="100000">
                                          <p:val>
                                            <p:strVal val="#ppt_x"/>
                                          </p:val>
                                        </p:tav>
                                      </p:tavLst>
                                    </p:anim>
                                    <p:anim calcmode="lin" valueType="num">
                                      <p:cBhvr additive="base">
                                        <p:cTn id="21" dur="500" fill="hold"/>
                                        <p:tgtEl>
                                          <p:spTgt spid="15"/>
                                        </p:tgtEl>
                                        <p:attrNameLst>
                                          <p:attrName>ppt_y</p:attrName>
                                        </p:attrNameLst>
                                      </p:cBhvr>
                                      <p:tavLst>
                                        <p:tav tm="0">
                                          <p:val>
                                            <p:strVal val="1+#ppt_h/2"/>
                                          </p:val>
                                        </p:tav>
                                        <p:tav tm="100000">
                                          <p:val>
                                            <p:strVal val="#ppt_y"/>
                                          </p:val>
                                        </p:tav>
                                      </p:tavLst>
                                    </p:anim>
                                  </p:childTnLst>
                                </p:cTn>
                              </p:par>
                              <p:par>
                                <p:cTn id="22" presetID="2" presetClass="entr" presetSubtype="8" decel="100000" fill="hold" grpId="0" nodeType="withEffect">
                                  <p:stCondLst>
                                    <p:cond delay="0"/>
                                  </p:stCondLst>
                                  <p:childTnLst>
                                    <p:set>
                                      <p:cBhvr>
                                        <p:cTn id="23" dur="1" fill="hold">
                                          <p:stCondLst>
                                            <p:cond delay="0"/>
                                          </p:stCondLst>
                                        </p:cTn>
                                        <p:tgtEl>
                                          <p:spTgt spid="37"/>
                                        </p:tgtEl>
                                        <p:attrNameLst>
                                          <p:attrName>style.visibility</p:attrName>
                                        </p:attrNameLst>
                                      </p:cBhvr>
                                      <p:to>
                                        <p:strVal val="visible"/>
                                      </p:to>
                                    </p:set>
                                    <p:anim calcmode="lin" valueType="num">
                                      <p:cBhvr additive="base">
                                        <p:cTn id="24" dur="1000" fill="hold"/>
                                        <p:tgtEl>
                                          <p:spTgt spid="37"/>
                                        </p:tgtEl>
                                        <p:attrNameLst>
                                          <p:attrName>ppt_x</p:attrName>
                                        </p:attrNameLst>
                                      </p:cBhvr>
                                      <p:tavLst>
                                        <p:tav tm="0">
                                          <p:val>
                                            <p:strVal val="0-#ppt_w/2"/>
                                          </p:val>
                                        </p:tav>
                                        <p:tav tm="100000">
                                          <p:val>
                                            <p:strVal val="#ppt_x"/>
                                          </p:val>
                                        </p:tav>
                                      </p:tavLst>
                                    </p:anim>
                                    <p:anim calcmode="lin" valueType="num">
                                      <p:cBhvr additive="base">
                                        <p:cTn id="25" dur="1000" fill="hold"/>
                                        <p:tgtEl>
                                          <p:spTgt spid="37"/>
                                        </p:tgtEl>
                                        <p:attrNameLst>
                                          <p:attrName>ppt_y</p:attrName>
                                        </p:attrNameLst>
                                      </p:cBhvr>
                                      <p:tavLst>
                                        <p:tav tm="0">
                                          <p:val>
                                            <p:strVal val="#ppt_y"/>
                                          </p:val>
                                        </p:tav>
                                        <p:tav tm="100000">
                                          <p:val>
                                            <p:strVal val="#ppt_y"/>
                                          </p:val>
                                        </p:tav>
                                      </p:tavLst>
                                    </p:anim>
                                  </p:childTnLst>
                                </p:cTn>
                              </p:par>
                              <p:par>
                                <p:cTn id="26" presetID="2" presetClass="entr" presetSubtype="3" fill="hold" grpId="0" nodeType="withEffect">
                                  <p:stCondLst>
                                    <p:cond delay="250"/>
                                  </p:stCondLst>
                                  <p:childTnLst>
                                    <p:set>
                                      <p:cBhvr>
                                        <p:cTn id="27" dur="1" fill="hold">
                                          <p:stCondLst>
                                            <p:cond delay="0"/>
                                          </p:stCondLst>
                                        </p:cTn>
                                        <p:tgtEl>
                                          <p:spTgt spid="22"/>
                                        </p:tgtEl>
                                        <p:attrNameLst>
                                          <p:attrName>style.visibility</p:attrName>
                                        </p:attrNameLst>
                                      </p:cBhvr>
                                      <p:to>
                                        <p:strVal val="visible"/>
                                      </p:to>
                                    </p:set>
                                    <p:anim calcmode="lin" valueType="num">
                                      <p:cBhvr additive="base">
                                        <p:cTn id="28" dur="500" fill="hold"/>
                                        <p:tgtEl>
                                          <p:spTgt spid="22"/>
                                        </p:tgtEl>
                                        <p:attrNameLst>
                                          <p:attrName>ppt_x</p:attrName>
                                        </p:attrNameLst>
                                      </p:cBhvr>
                                      <p:tavLst>
                                        <p:tav tm="0">
                                          <p:val>
                                            <p:strVal val="1+#ppt_w/2"/>
                                          </p:val>
                                        </p:tav>
                                        <p:tav tm="100000">
                                          <p:val>
                                            <p:strVal val="#ppt_x"/>
                                          </p:val>
                                        </p:tav>
                                      </p:tavLst>
                                    </p:anim>
                                    <p:anim calcmode="lin" valueType="num">
                                      <p:cBhvr additive="base">
                                        <p:cTn id="29" dur="500" fill="hold"/>
                                        <p:tgtEl>
                                          <p:spTgt spid="22"/>
                                        </p:tgtEl>
                                        <p:attrNameLst>
                                          <p:attrName>ppt_y</p:attrName>
                                        </p:attrNameLst>
                                      </p:cBhvr>
                                      <p:tavLst>
                                        <p:tav tm="0">
                                          <p:val>
                                            <p:strVal val="0-#ppt_h/2"/>
                                          </p:val>
                                        </p:tav>
                                        <p:tav tm="100000">
                                          <p:val>
                                            <p:strVal val="#ppt_y"/>
                                          </p:val>
                                        </p:tav>
                                      </p:tavLst>
                                    </p:anim>
                                  </p:childTnLst>
                                </p:cTn>
                              </p:par>
                              <p:par>
                                <p:cTn id="30" presetID="2" presetClass="entr" presetSubtype="6" fill="hold" nodeType="withEffect">
                                  <p:stCondLst>
                                    <p:cond delay="250"/>
                                  </p:st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fill="hold"/>
                                        <p:tgtEl>
                                          <p:spTgt spid="23"/>
                                        </p:tgtEl>
                                        <p:attrNameLst>
                                          <p:attrName>ppt_x</p:attrName>
                                        </p:attrNameLst>
                                      </p:cBhvr>
                                      <p:tavLst>
                                        <p:tav tm="0">
                                          <p:val>
                                            <p:strVal val="1+#ppt_w/2"/>
                                          </p:val>
                                        </p:tav>
                                        <p:tav tm="100000">
                                          <p:val>
                                            <p:strVal val="#ppt_x"/>
                                          </p:val>
                                        </p:tav>
                                      </p:tavLst>
                                    </p:anim>
                                    <p:anim calcmode="lin" valueType="num">
                                      <p:cBhvr additive="base">
                                        <p:cTn id="33" dur="500" fill="hold"/>
                                        <p:tgtEl>
                                          <p:spTgt spid="23"/>
                                        </p:tgtEl>
                                        <p:attrNameLst>
                                          <p:attrName>ppt_y</p:attrName>
                                        </p:attrNameLst>
                                      </p:cBhvr>
                                      <p:tavLst>
                                        <p:tav tm="0">
                                          <p:val>
                                            <p:strVal val="1+#ppt_h/2"/>
                                          </p:val>
                                        </p:tav>
                                        <p:tav tm="100000">
                                          <p:val>
                                            <p:strVal val="#ppt_y"/>
                                          </p:val>
                                        </p:tav>
                                      </p:tavLst>
                                    </p:anim>
                                  </p:childTnLst>
                                </p:cTn>
                              </p:par>
                              <p:par>
                                <p:cTn id="34" presetID="2" presetClass="entr" presetSubtype="6"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 calcmode="lin" valueType="num">
                                      <p:cBhvr additive="base">
                                        <p:cTn id="36" dur="500" fill="hold"/>
                                        <p:tgtEl>
                                          <p:spTgt spid="24"/>
                                        </p:tgtEl>
                                        <p:attrNameLst>
                                          <p:attrName>ppt_x</p:attrName>
                                        </p:attrNameLst>
                                      </p:cBhvr>
                                      <p:tavLst>
                                        <p:tav tm="0">
                                          <p:val>
                                            <p:strVal val="1+#ppt_w/2"/>
                                          </p:val>
                                        </p:tav>
                                        <p:tav tm="100000">
                                          <p:val>
                                            <p:strVal val="#ppt_x"/>
                                          </p:val>
                                        </p:tav>
                                      </p:tavLst>
                                    </p:anim>
                                    <p:anim calcmode="lin" valueType="num">
                                      <p:cBhvr additive="base">
                                        <p:cTn id="37" dur="500" fill="hold"/>
                                        <p:tgtEl>
                                          <p:spTgt spid="24"/>
                                        </p:tgtEl>
                                        <p:attrNameLst>
                                          <p:attrName>ppt_y</p:attrName>
                                        </p:attrNameLst>
                                      </p:cBhvr>
                                      <p:tavLst>
                                        <p:tav tm="0">
                                          <p:val>
                                            <p:strVal val="1+#ppt_h/2"/>
                                          </p:val>
                                        </p:tav>
                                        <p:tav tm="100000">
                                          <p:val>
                                            <p:strVal val="#ppt_y"/>
                                          </p:val>
                                        </p:tav>
                                      </p:tavLst>
                                    </p:anim>
                                  </p:childTnLst>
                                </p:cTn>
                              </p:par>
                              <p:par>
                                <p:cTn id="38" presetID="2" presetClass="entr" presetSubtype="2" decel="100000" fill="hold" grpId="0" nodeType="withEffect">
                                  <p:stCondLst>
                                    <p:cond delay="250"/>
                                  </p:stCondLst>
                                  <p:childTnLst>
                                    <p:set>
                                      <p:cBhvr>
                                        <p:cTn id="39" dur="1" fill="hold">
                                          <p:stCondLst>
                                            <p:cond delay="0"/>
                                          </p:stCondLst>
                                        </p:cTn>
                                        <p:tgtEl>
                                          <p:spTgt spid="21"/>
                                        </p:tgtEl>
                                        <p:attrNameLst>
                                          <p:attrName>style.visibility</p:attrName>
                                        </p:attrNameLst>
                                      </p:cBhvr>
                                      <p:to>
                                        <p:strVal val="visible"/>
                                      </p:to>
                                    </p:set>
                                    <p:anim calcmode="lin" valueType="num">
                                      <p:cBhvr additive="base">
                                        <p:cTn id="40" dur="1000" fill="hold"/>
                                        <p:tgtEl>
                                          <p:spTgt spid="21"/>
                                        </p:tgtEl>
                                        <p:attrNameLst>
                                          <p:attrName>ppt_x</p:attrName>
                                        </p:attrNameLst>
                                      </p:cBhvr>
                                      <p:tavLst>
                                        <p:tav tm="0">
                                          <p:val>
                                            <p:strVal val="1+#ppt_w/2"/>
                                          </p:val>
                                        </p:tav>
                                        <p:tav tm="100000">
                                          <p:val>
                                            <p:strVal val="#ppt_x"/>
                                          </p:val>
                                        </p:tav>
                                      </p:tavLst>
                                    </p:anim>
                                    <p:anim calcmode="lin" valueType="num">
                                      <p:cBhvr additive="base">
                                        <p:cTn id="41" dur="10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1" grpId="0" bldLvl="0" animBg="1"/>
      <p:bldP spid="21" grpId="0"/>
      <p:bldP spid="37" grpId="0"/>
      <p:bldP spid="22" grpId="0" bldLvl="0" animBg="1"/>
      <p:bldP spid="24" grpId="0" bldLvl="0" animBg="1"/>
      <p:bldP spid="28" grpId="0"/>
      <p:bldP spid="28"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9" name="任意多边形: 形状 278"/>
          <p:cNvSpPr/>
          <p:nvPr>
            <p:custDataLst>
              <p:tags r:id="rId1"/>
            </p:custDataLst>
          </p:nvPr>
        </p:nvSpPr>
        <p:spPr>
          <a:xfrm>
            <a:off x="554139" y="926907"/>
            <a:ext cx="595356" cy="594527"/>
          </a:xfrm>
          <a:custGeom>
            <a:avLst/>
            <a:gdLst>
              <a:gd name="connsiteX0" fmla="*/ 1478 w 597033"/>
              <a:gd name="connsiteY0" fmla="*/ 0 h 596201"/>
              <a:gd name="connsiteX1" fmla="*/ 597033 w 597033"/>
              <a:gd name="connsiteY1" fmla="*/ 0 h 596201"/>
              <a:gd name="connsiteX2" fmla="*/ 597033 w 597033"/>
              <a:gd name="connsiteY2" fmla="*/ 136412 h 596201"/>
              <a:gd name="connsiteX3" fmla="*/ 136413 w 597033"/>
              <a:gd name="connsiteY3" fmla="*/ 136412 h 596201"/>
              <a:gd name="connsiteX4" fmla="*/ 136413 w 597033"/>
              <a:gd name="connsiteY4" fmla="*/ 596201 h 596201"/>
              <a:gd name="connsiteX5" fmla="*/ 0 w 597033"/>
              <a:gd name="connsiteY5" fmla="*/ 596201 h 596201"/>
              <a:gd name="connsiteX6" fmla="*/ 0 w 597033"/>
              <a:gd name="connsiteY6" fmla="*/ 646 h 596201"/>
              <a:gd name="connsiteX7" fmla="*/ 1478 w 597033"/>
              <a:gd name="connsiteY7" fmla="*/ 646 h 59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7033" h="596201">
                <a:moveTo>
                  <a:pt x="1478" y="0"/>
                </a:moveTo>
                <a:lnTo>
                  <a:pt x="597033" y="0"/>
                </a:lnTo>
                <a:lnTo>
                  <a:pt x="597033" y="136412"/>
                </a:lnTo>
                <a:lnTo>
                  <a:pt x="136413" y="136412"/>
                </a:lnTo>
                <a:lnTo>
                  <a:pt x="136413" y="596201"/>
                </a:lnTo>
                <a:lnTo>
                  <a:pt x="0" y="596201"/>
                </a:lnTo>
                <a:lnTo>
                  <a:pt x="0" y="646"/>
                </a:lnTo>
                <a:lnTo>
                  <a:pt x="1478" y="646"/>
                </a:lnTo>
                <a:close/>
              </a:path>
            </a:pathLst>
          </a:custGeom>
          <a:solidFill>
            <a:srgbClr val="006A44">
              <a:alpha val="99000"/>
            </a:srgbClr>
          </a:solidFill>
          <a:ln w="33259" cap="flat">
            <a:noFill/>
            <a:prstDash val="solid"/>
            <a:miter/>
          </a:ln>
        </p:spPr>
        <p:txBody>
          <a:bodyPr wrap="square" rtlCol="0" anchor="ctr">
            <a:noAutofit/>
          </a:bodyPr>
          <a:p>
            <a:endParaRPr lang="zh-CN" altLang="en-US" sz="2400">
              <a:solidFill>
                <a:schemeClr val="dk1"/>
              </a:solidFill>
              <a:latin typeface="Times New Roman" panose="02020603050405020304" charset="0"/>
              <a:ea typeface="微软雅黑" panose="020B0503020204020204" charset="-122"/>
              <a:cs typeface="Times New Roman" panose="02020603050405020304" charset="0"/>
            </a:endParaRPr>
          </a:p>
        </p:txBody>
      </p:sp>
      <p:sp>
        <p:nvSpPr>
          <p:cNvPr id="283" name="任意多边形: 形状 282"/>
          <p:cNvSpPr/>
          <p:nvPr>
            <p:custDataLst>
              <p:tags r:id="rId2"/>
            </p:custDataLst>
          </p:nvPr>
        </p:nvSpPr>
        <p:spPr>
          <a:xfrm rot="16200000">
            <a:off x="11262312" y="5623453"/>
            <a:ext cx="595109" cy="593883"/>
          </a:xfrm>
          <a:custGeom>
            <a:avLst/>
            <a:gdLst>
              <a:gd name="connsiteX0" fmla="*/ 596786 w 596786"/>
              <a:gd name="connsiteY0" fmla="*/ 457879 h 595556"/>
              <a:gd name="connsiteX1" fmla="*/ 596786 w 596786"/>
              <a:gd name="connsiteY1" fmla="*/ 594291 h 595556"/>
              <a:gd name="connsiteX2" fmla="*/ 136413 w 596786"/>
              <a:gd name="connsiteY2" fmla="*/ 594291 h 595556"/>
              <a:gd name="connsiteX3" fmla="*/ 136413 w 596786"/>
              <a:gd name="connsiteY3" fmla="*/ 595556 h 595556"/>
              <a:gd name="connsiteX4" fmla="*/ 0 w 596786"/>
              <a:gd name="connsiteY4" fmla="*/ 595556 h 595556"/>
              <a:gd name="connsiteX5" fmla="*/ 0 w 596786"/>
              <a:gd name="connsiteY5" fmla="*/ 0 h 595556"/>
              <a:gd name="connsiteX6" fmla="*/ 136413 w 596786"/>
              <a:gd name="connsiteY6" fmla="*/ 0 h 595556"/>
              <a:gd name="connsiteX7" fmla="*/ 136413 w 596786"/>
              <a:gd name="connsiteY7" fmla="*/ 457879 h 59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6786" h="595556">
                <a:moveTo>
                  <a:pt x="596786" y="457879"/>
                </a:moveTo>
                <a:lnTo>
                  <a:pt x="596786" y="594291"/>
                </a:lnTo>
                <a:lnTo>
                  <a:pt x="136413" y="594291"/>
                </a:lnTo>
                <a:lnTo>
                  <a:pt x="136413" y="595556"/>
                </a:lnTo>
                <a:lnTo>
                  <a:pt x="0" y="595556"/>
                </a:lnTo>
                <a:lnTo>
                  <a:pt x="0" y="0"/>
                </a:lnTo>
                <a:lnTo>
                  <a:pt x="136413" y="0"/>
                </a:lnTo>
                <a:lnTo>
                  <a:pt x="136413" y="457879"/>
                </a:lnTo>
                <a:close/>
              </a:path>
            </a:pathLst>
          </a:custGeom>
          <a:solidFill>
            <a:srgbClr val="006A44">
              <a:alpha val="99000"/>
            </a:srgbClr>
          </a:solidFill>
          <a:ln w="33259" cap="flat">
            <a:noFill/>
            <a:prstDash val="solid"/>
            <a:miter/>
          </a:ln>
        </p:spPr>
        <p:txBody>
          <a:bodyPr wrap="square" rtlCol="0" anchor="ctr">
            <a:noAutofit/>
          </a:bodyPr>
          <a:p>
            <a:endParaRPr lang="zh-CN" altLang="en-US" sz="2400">
              <a:solidFill>
                <a:schemeClr val="dk1"/>
              </a:solidFill>
              <a:latin typeface="Times New Roman" panose="02020603050405020304" charset="0"/>
              <a:ea typeface="微软雅黑" panose="020B0503020204020204" charset="-122"/>
              <a:cs typeface="Times New Roman" panose="02020603050405020304" charset="0"/>
            </a:endParaRPr>
          </a:p>
        </p:txBody>
      </p:sp>
      <p:sp>
        <p:nvSpPr>
          <p:cNvPr id="11" name="Title 6"/>
          <p:cNvSpPr txBox="1"/>
          <p:nvPr>
            <p:custDataLst>
              <p:tags r:id="rId3"/>
            </p:custDataLst>
          </p:nvPr>
        </p:nvSpPr>
        <p:spPr>
          <a:xfrm>
            <a:off x="931545" y="3238500"/>
            <a:ext cx="10769600" cy="2869565"/>
          </a:xfrm>
          <a:prstGeom prst="rect">
            <a:avLst/>
          </a:prstGeom>
          <a:noFill/>
          <a:ln w="3175">
            <a:noFill/>
            <a:prstDash val="dash"/>
          </a:ln>
        </p:spPr>
        <p:txBody>
          <a:bodyPr wrap="square" lIns="63500" tIns="25400" rIns="63500" bIns="25400" anchor="b"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79400" lvl="0" indent="-279400" algn="just" fontAlgn="ctr">
              <a:lnSpc>
                <a:spcPct val="120000"/>
              </a:lnSpc>
              <a:spcBef>
                <a:spcPts val="0"/>
              </a:spcBef>
              <a:spcAft>
                <a:spcPts val="800"/>
              </a:spcAft>
              <a:buSzPct val="100000"/>
              <a:buFont typeface="Wingdings" panose="05000000000000000000" charset="0"/>
              <a:buChar char="l"/>
            </a:pPr>
            <a:r>
              <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研究一采用档案数据来考察当代美国新闻媒体如何描绘独处现象。从</a:t>
            </a:r>
            <a:r>
              <a:rPr lang="en-US" altLang="zh-CN"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ProQuest</a:t>
            </a:r>
            <a:r>
              <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数据库（</a:t>
            </a:r>
            <a:r>
              <a:rPr lang="en-US" altLang="zh-CN"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https://www.proquest.com/</a:t>
            </a:r>
            <a:r>
              <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）检索了</a:t>
            </a:r>
            <a:r>
              <a:rPr lang="en-US" altLang="zh-CN"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2020</a:t>
            </a:r>
            <a:r>
              <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年</a:t>
            </a:r>
            <a:r>
              <a:rPr lang="en-US" altLang="zh-CN"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1</a:t>
            </a:r>
            <a:r>
              <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月</a:t>
            </a:r>
            <a:r>
              <a:rPr lang="en-US" altLang="zh-CN"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1</a:t>
            </a:r>
            <a:r>
              <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日至</a:t>
            </a:r>
            <a:r>
              <a:rPr lang="en-US" altLang="zh-CN"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2022</a:t>
            </a:r>
            <a:r>
              <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年</a:t>
            </a:r>
            <a:r>
              <a:rPr lang="en-US" altLang="zh-CN"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12</a:t>
            </a:r>
            <a:r>
              <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月</a:t>
            </a:r>
            <a:r>
              <a:rPr lang="en-US" altLang="zh-CN"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31</a:t>
            </a:r>
            <a:r>
              <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日期间，美国印刷发行量排名前十的日报媒体</a:t>
            </a:r>
            <a:r>
              <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a:t>
            </a:r>
            <a:endPar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endParaRPr>
          </a:p>
          <a:p>
            <a:pPr marL="279400" lvl="0" indent="-279400" algn="just" fontAlgn="ctr">
              <a:lnSpc>
                <a:spcPct val="120000"/>
              </a:lnSpc>
              <a:spcBef>
                <a:spcPts val="0"/>
              </a:spcBef>
              <a:spcAft>
                <a:spcPts val="800"/>
              </a:spcAft>
              <a:buSzPct val="100000"/>
              <a:buFont typeface="Wingdings" panose="05000000000000000000" charset="0"/>
              <a:buChar char="l"/>
            </a:pPr>
            <a:r>
              <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采用内容分析法，基于</a:t>
            </a:r>
            <a:r>
              <a:rPr lang="en-US" altLang="zh-CN"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ProQuest</a:t>
            </a:r>
            <a:r>
              <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数据库收集</a:t>
            </a:r>
            <a:r>
              <a:rPr lang="en-US" altLang="zh-CN"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2020</a:t>
            </a:r>
            <a:r>
              <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年至</a:t>
            </a:r>
            <a:r>
              <a:rPr lang="en-US" altLang="zh-CN"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2022</a:t>
            </a:r>
            <a:r>
              <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年间美国前十大发行量报纸中与</a:t>
            </a:r>
            <a:r>
              <a:rPr lang="en-US" altLang="zh-CN"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a:t>
            </a:r>
            <a:r>
              <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独处</a:t>
            </a:r>
            <a:r>
              <a:rPr lang="en-US" altLang="zh-CN"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a:t>
            </a:r>
            <a:r>
              <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相关的新闻文章。研究分为两个阶段：</a:t>
            </a:r>
            <a:endPar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endParaRPr>
          </a:p>
          <a:p>
            <a:pPr lvl="0" indent="457200" algn="just" fontAlgn="ctr">
              <a:lnSpc>
                <a:spcPct val="120000"/>
              </a:lnSpc>
              <a:spcBef>
                <a:spcPts val="0"/>
              </a:spcBef>
              <a:spcAft>
                <a:spcPts val="800"/>
              </a:spcAft>
              <a:buSzPct val="100000"/>
              <a:buFont typeface="Wingdings" panose="05000000000000000000" charset="0"/>
            </a:pPr>
            <a:r>
              <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首先通过关键词检索并筛选标题与全文，以人工双盲编码的方式剔除与人际独处无关的内容；</a:t>
            </a:r>
            <a:endPar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endParaRPr>
          </a:p>
          <a:p>
            <a:pPr lvl="0" indent="457200" algn="just" fontAlgn="ctr">
              <a:lnSpc>
                <a:spcPct val="120000"/>
              </a:lnSpc>
              <a:spcBef>
                <a:spcPts val="0"/>
              </a:spcBef>
              <a:spcAft>
                <a:spcPts val="800"/>
              </a:spcAft>
              <a:buSzPct val="100000"/>
              <a:buFont typeface="Wingdings" panose="05000000000000000000" charset="0"/>
            </a:pPr>
            <a:r>
              <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其次进行系统的标题和全文内容分析。标题分析由四名编码员对每篇文章标题进行情感倾向分类，并计算</a:t>
            </a:r>
            <a:r>
              <a:rPr lang="en-US" altLang="zh-CN"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Fleiss’s Kappa</a:t>
            </a:r>
            <a:r>
              <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检验一致性。全文分析部分由八名编码员组成四组，使用二元变量编码判断是否提及独处的具体益处与风险，并通过</a:t>
            </a:r>
            <a:r>
              <a:rPr lang="en-US" altLang="zh-CN"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Cohen’s Kappa</a:t>
            </a:r>
            <a:r>
              <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检验组内一致性。研究未使用自动化文本分析工具，而是依赖人工内容判定与统计分析方法，编码一致性数据表明分析过程具有高度信度。相关统计分析借助</a:t>
            </a:r>
            <a:r>
              <a:rPr lang="en-US" altLang="zh-CN"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R</a:t>
            </a:r>
            <a:r>
              <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完成，涉及的统计方法包括</a:t>
            </a:r>
            <a:r>
              <a:rPr lang="en-US" altLang="zh-CN"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Cohen’s Kappa</a:t>
            </a:r>
            <a:r>
              <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与</a:t>
            </a:r>
            <a:r>
              <a:rPr lang="en-US" altLang="zh-CN"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Fleiss’s Kappa</a:t>
            </a:r>
            <a:r>
              <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rPr>
              <a:t>等一致性系数计算。</a:t>
            </a:r>
            <a:endParaRPr lang="zh-CN" altLang="en-US" sz="2000" spc="160">
              <a:ln w="3175">
                <a:noFill/>
                <a:prstDash val="dash"/>
              </a:ln>
              <a:solidFill>
                <a:schemeClr val="tx1"/>
              </a:solidFill>
              <a:latin typeface="Times New Roman" panose="02020603050405020304" charset="0"/>
              <a:ea typeface="宋体" panose="02010600030101010101" pitchFamily="2" charset="-122"/>
              <a:cs typeface="Times New Roman" panose="02020603050405020304" charset="0"/>
            </a:endParaRPr>
          </a:p>
        </p:txBody>
      </p:sp>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Times New Roman" panose="02020603050405020304" charset="0"/>
              <a:ea typeface="思源黑体 CN Light" panose="020B0300000000000000" pitchFamily="34" charset="-122"/>
              <a:cs typeface="Times New Roman" panose="02020603050405020304" charset="0"/>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Times New Roman" panose="02020603050405020304" charset="0"/>
              <a:ea typeface="思源黑体 CN Light" panose="020B0300000000000000" pitchFamily="34" charset="-122"/>
              <a:cs typeface="Times New Roman" panose="02020603050405020304" charset="0"/>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2019300" cy="460375"/>
          </a:xfrm>
          <a:prstGeom prst="rect">
            <a:avLst/>
          </a:prstGeom>
          <a:noFill/>
        </p:spPr>
        <p:txBody>
          <a:bodyPr wrap="none" rtlCol="0">
            <a:spAutoFit/>
          </a:bodyPr>
          <a:p>
            <a:r>
              <a:rPr lang="zh-CN" altLang="en-US" sz="2400" b="1" dirty="0">
                <a:solidFill>
                  <a:srgbClr val="000000">
                    <a:lumMod val="75000"/>
                    <a:lumOff val="25000"/>
                  </a:srgbClr>
                </a:solidFill>
                <a:latin typeface="Times New Roman" panose="02020603050405020304" charset="0"/>
                <a:ea typeface="黑体" panose="02010609060101010101" charset="-122"/>
                <a:sym typeface="思源宋体 CN Light" panose="02020300000000000000" pitchFamily="18" charset="-122"/>
              </a:rPr>
              <a:t>研究一：介绍</a:t>
            </a:r>
            <a:endParaRPr lang="zh-CN" altLang="en-US" sz="2400" b="1" dirty="0">
              <a:solidFill>
                <a:srgbClr val="000000">
                  <a:lumMod val="75000"/>
                  <a:lumOff val="25000"/>
                </a:srgbClr>
              </a:solidFill>
              <a:latin typeface="Times New Roman" panose="02020603050405020304" charset="0"/>
              <a:ea typeface="黑体" panose="02010609060101010101" charset="-122"/>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Times New Roman" panose="02020603050405020304" charset="0"/>
              <a:ea typeface="思源黑体 CN Light" panose="020B0300000000000000" pitchFamily="34" charset="-122"/>
              <a:cs typeface="Times New Roman" panose="02020603050405020304" charset="0"/>
              <a:sym typeface="思源宋体 CN Light" panose="02020300000000000000" pitchFamily="18" charset="-122"/>
            </a:endParaRPr>
          </a:p>
        </p:txBody>
      </p:sp>
      <p:pic>
        <p:nvPicPr>
          <p:cNvPr id="3" name="图片 2" descr="南京师范大学（黑）"/>
          <p:cNvPicPr>
            <a:picLocks noChangeAspect="1"/>
          </p:cNvPicPr>
          <p:nvPr/>
        </p:nvPicPr>
        <p:blipFill>
          <a:blip r:embed="rId4"/>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5"/>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2631440" cy="460375"/>
          </a:xfrm>
          <a:prstGeom prst="rect">
            <a:avLst/>
          </a:prstGeom>
          <a:noFill/>
        </p:spPr>
        <p:txBody>
          <a:bodyPr wrap="none" rtlCol="0">
            <a:spAutoFit/>
          </a:bodyPr>
          <a:p>
            <a:r>
              <a:rPr lang="zh-CN" altLang="en-US" sz="2400" b="1" dirty="0">
                <a:solidFill>
                  <a:srgbClr val="000000">
                    <a:lumMod val="75000"/>
                    <a:lumOff val="25000"/>
                  </a:srgbClr>
                </a:solidFill>
                <a:latin typeface="黑体" panose="02010609060101010101" charset="-122"/>
                <a:ea typeface="黑体" panose="02010609060101010101" charset="-122"/>
                <a:sym typeface="思源宋体 CN Light" panose="02020300000000000000" pitchFamily="18" charset="-122"/>
              </a:rPr>
              <a:t>研究一：重复结果</a:t>
            </a:r>
            <a:endParaRPr lang="en-US" altLang="zh-CN" sz="2400" b="1" dirty="0">
              <a:solidFill>
                <a:srgbClr val="000000">
                  <a:lumMod val="75000"/>
                  <a:lumOff val="25000"/>
                </a:srgbClr>
              </a:solidFill>
              <a:latin typeface="黑体" panose="02010609060101010101" charset="-122"/>
              <a:ea typeface="黑体" panose="02010609060101010101" charset="-122"/>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图片 4"/>
          <p:cNvPicPr>
            <a:picLocks noChangeAspect="1"/>
          </p:cNvPicPr>
          <p:nvPr/>
        </p:nvPicPr>
        <p:blipFill>
          <a:blip r:embed="rId3"/>
          <a:stretch>
            <a:fillRect/>
          </a:stretch>
        </p:blipFill>
        <p:spPr>
          <a:xfrm>
            <a:off x="4989830" y="1022985"/>
            <a:ext cx="6737350" cy="4973955"/>
          </a:xfrm>
          <a:prstGeom prst="rect">
            <a:avLst/>
          </a:prstGeom>
        </p:spPr>
      </p:pic>
      <p:sp>
        <p:nvSpPr>
          <p:cNvPr id="6" name="文本框 5"/>
          <p:cNvSpPr txBox="1"/>
          <p:nvPr/>
        </p:nvSpPr>
        <p:spPr>
          <a:xfrm>
            <a:off x="554355" y="1304925"/>
            <a:ext cx="4436110" cy="2056765"/>
          </a:xfrm>
          <a:prstGeom prst="rect">
            <a:avLst/>
          </a:prstGeom>
          <a:noFill/>
        </p:spPr>
        <p:txBody>
          <a:bodyPr wrap="square" rtlCol="0">
            <a:noAutofit/>
          </a:bodyPr>
          <a:p>
            <a:pPr indent="457200"/>
            <a:r>
              <a:rPr lang="zh-CN" altLang="en-US"/>
              <a:t>最初的检索共产生了</a:t>
            </a:r>
            <a:r>
              <a:rPr lang="en-US" altLang="zh-CN"/>
              <a:t> 691 </a:t>
            </a:r>
            <a:r>
              <a:rPr lang="zh-CN" altLang="en-US"/>
              <a:t>篇新闻文章。排除了</a:t>
            </a:r>
            <a:r>
              <a:rPr lang="en-US" altLang="zh-CN"/>
              <a:t> 16 </a:t>
            </a:r>
            <a:r>
              <a:rPr lang="zh-CN" altLang="en-US"/>
              <a:t>篇重复文章。两名独立编码员筛选了剩余的</a:t>
            </a:r>
            <a:r>
              <a:rPr lang="en-US" altLang="zh-CN"/>
              <a:t> 675 </a:t>
            </a:r>
            <a:r>
              <a:rPr lang="zh-CN" altLang="en-US"/>
              <a:t>个标题，以确定与感兴趣主题相关的文章</a:t>
            </a:r>
            <a:r>
              <a:rPr lang="en-US" altLang="zh-CN"/>
              <a:t>  (Cohen’s Kappa κ = 0.65)</a:t>
            </a:r>
            <a:endParaRPr lang="en-US" altLang="zh-CN"/>
          </a:p>
        </p:txBody>
      </p:sp>
    </p:spTree>
    <p:custDataLst>
      <p:tags r:id="rId4"/>
    </p:custDataLst>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2631440" cy="460375"/>
          </a:xfrm>
          <a:prstGeom prst="rect">
            <a:avLst/>
          </a:prstGeom>
          <a:noFill/>
        </p:spPr>
        <p:txBody>
          <a:bodyPr wrap="none" rtlCol="0">
            <a:spAutoFit/>
          </a:bodyPr>
          <a:p>
            <a:r>
              <a:rPr lang="zh-CN" altLang="en-US" sz="2400" b="1" dirty="0">
                <a:solidFill>
                  <a:srgbClr val="000000">
                    <a:lumMod val="75000"/>
                    <a:lumOff val="25000"/>
                  </a:srgbClr>
                </a:solidFill>
                <a:latin typeface="黑体" panose="02010609060101010101" charset="-122"/>
                <a:ea typeface="黑体" panose="02010609060101010101" charset="-122"/>
                <a:sym typeface="思源宋体 CN Light" panose="02020300000000000000" pitchFamily="18" charset="-122"/>
              </a:rPr>
              <a:t>研究一：重复结果</a:t>
            </a:r>
            <a:endParaRPr lang="en-US" altLang="zh-CN" sz="2400" b="1" dirty="0">
              <a:solidFill>
                <a:srgbClr val="000000">
                  <a:lumMod val="75000"/>
                  <a:lumOff val="25000"/>
                </a:srgbClr>
              </a:solidFill>
              <a:latin typeface="黑体" panose="02010609060101010101" charset="-122"/>
              <a:ea typeface="黑体" panose="02010609060101010101" charset="-122"/>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554355" y="1304925"/>
            <a:ext cx="4436110" cy="2056765"/>
          </a:xfrm>
          <a:prstGeom prst="rect">
            <a:avLst/>
          </a:prstGeom>
          <a:noFill/>
        </p:spPr>
        <p:txBody>
          <a:bodyPr wrap="square" rtlCol="0">
            <a:noAutofit/>
          </a:bodyPr>
          <a:p>
            <a:r>
              <a:rPr lang="zh-CN" altLang="en-US"/>
              <a:t>接下来，相同的两位编码员审查了文章的剩余</a:t>
            </a:r>
            <a:r>
              <a:rPr lang="en-US" altLang="zh-CN"/>
              <a:t> 377 </a:t>
            </a:r>
            <a:r>
              <a:rPr lang="zh-CN" altLang="en-US"/>
              <a:t>篇全文，并排除了与感兴趣的主题没有直接关系的文章</a:t>
            </a:r>
            <a:r>
              <a:rPr lang="en-US" altLang="zh-CN"/>
              <a:t>(e.g., “Minorities sent to solitary more often: Black, Indian inmates face dis_x0002_proportionately higher rates”; Cohen’s Kappa κ = 0.78)</a:t>
            </a:r>
            <a:endParaRPr lang="en-US" altLang="zh-CN"/>
          </a:p>
        </p:txBody>
      </p:sp>
      <p:pic>
        <p:nvPicPr>
          <p:cNvPr id="7" name="图片 6"/>
          <p:cNvPicPr>
            <a:picLocks noChangeAspect="1"/>
          </p:cNvPicPr>
          <p:nvPr/>
        </p:nvPicPr>
        <p:blipFill>
          <a:blip r:embed="rId3"/>
          <a:stretch>
            <a:fillRect/>
          </a:stretch>
        </p:blipFill>
        <p:spPr>
          <a:xfrm>
            <a:off x="4801870" y="1041400"/>
            <a:ext cx="7054850" cy="4953000"/>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2631440" cy="460375"/>
          </a:xfrm>
          <a:prstGeom prst="rect">
            <a:avLst/>
          </a:prstGeom>
          <a:noFill/>
        </p:spPr>
        <p:txBody>
          <a:bodyPr wrap="none" rtlCol="0">
            <a:spAutoFit/>
          </a:bodyPr>
          <a:p>
            <a:r>
              <a:rPr lang="zh-CN" altLang="en-US" sz="2400" b="1" dirty="0">
                <a:solidFill>
                  <a:srgbClr val="000000">
                    <a:lumMod val="75000"/>
                    <a:lumOff val="25000"/>
                  </a:srgbClr>
                </a:solidFill>
                <a:latin typeface="黑体" panose="02010609060101010101" charset="-122"/>
                <a:ea typeface="黑体" panose="02010609060101010101" charset="-122"/>
                <a:sym typeface="思源宋体 CN Light" panose="02020300000000000000" pitchFamily="18" charset="-122"/>
              </a:rPr>
              <a:t>研究一：重复结果</a:t>
            </a:r>
            <a:endParaRPr lang="en-US" altLang="zh-CN" sz="2400" b="1" dirty="0">
              <a:solidFill>
                <a:srgbClr val="000000">
                  <a:lumMod val="75000"/>
                  <a:lumOff val="25000"/>
                </a:srgbClr>
              </a:solidFill>
              <a:latin typeface="黑体" panose="02010609060101010101" charset="-122"/>
              <a:ea typeface="黑体" panose="02010609060101010101" charset="-122"/>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554355" y="1304925"/>
            <a:ext cx="4436110" cy="2056765"/>
          </a:xfrm>
          <a:prstGeom prst="rect">
            <a:avLst/>
          </a:prstGeom>
          <a:noFill/>
        </p:spPr>
        <p:txBody>
          <a:bodyPr wrap="square" rtlCol="0">
            <a:noAutofit/>
          </a:bodyPr>
          <a:p>
            <a:r>
              <a:rPr lang="zh-CN" altLang="en-US"/>
              <a:t>四名独立编码员根据标题对独处的描述对每个标题进行评分：中性（编码</a:t>
            </a:r>
            <a:r>
              <a:rPr lang="en-US" altLang="zh-CN"/>
              <a:t> 0;</a:t>
            </a:r>
            <a:r>
              <a:rPr lang="zh-CN" altLang="en-US"/>
              <a:t>例如，</a:t>
            </a:r>
            <a:r>
              <a:rPr lang="en-US" altLang="zh-CN"/>
              <a:t>“</a:t>
            </a:r>
            <a:r>
              <a:rPr lang="zh-CN" altLang="en-US"/>
              <a:t>不介意孤独的明星</a:t>
            </a:r>
            <a:r>
              <a:rPr lang="en-US" altLang="zh-CN"/>
              <a:t>”</a:t>
            </a:r>
            <a:r>
              <a:rPr lang="zh-CN" altLang="en-US"/>
              <a:t>）、消极（编码</a:t>
            </a:r>
            <a:r>
              <a:rPr lang="en-US" altLang="zh-CN"/>
              <a:t> 1;</a:t>
            </a:r>
            <a:r>
              <a:rPr lang="zh-CN" altLang="en-US"/>
              <a:t>例如，</a:t>
            </a:r>
            <a:r>
              <a:rPr lang="en-US" altLang="zh-CN"/>
              <a:t>“</a:t>
            </a:r>
            <a:r>
              <a:rPr lang="zh-CN" altLang="en-US"/>
              <a:t>社会孤立对身体和心理造成的巨大损失</a:t>
            </a:r>
            <a:r>
              <a:rPr lang="en-US" altLang="zh-CN"/>
              <a:t>”</a:t>
            </a:r>
            <a:r>
              <a:rPr lang="zh-CN" altLang="en-US"/>
              <a:t>）、正面（编码</a:t>
            </a:r>
            <a:r>
              <a:rPr lang="en-US" altLang="zh-CN"/>
              <a:t> 2;</a:t>
            </a:r>
            <a:r>
              <a:rPr lang="zh-CN" altLang="en-US"/>
              <a:t>例如，</a:t>
            </a:r>
            <a:r>
              <a:rPr lang="en-US" altLang="zh-CN"/>
              <a:t>“</a:t>
            </a:r>
            <a:r>
              <a:rPr lang="zh-CN" altLang="en-US"/>
              <a:t>船上幸福的孤独</a:t>
            </a:r>
            <a:r>
              <a:rPr lang="en-US" altLang="zh-CN"/>
              <a:t>”</a:t>
            </a:r>
            <a:r>
              <a:rPr lang="zh-CN" altLang="en-US"/>
              <a:t>）或消极和正面（编码</a:t>
            </a:r>
            <a:r>
              <a:rPr lang="en-US" altLang="zh-CN"/>
              <a:t> 3;</a:t>
            </a:r>
            <a:r>
              <a:rPr lang="zh-CN" altLang="en-US"/>
              <a:t>例如，</a:t>
            </a:r>
            <a:r>
              <a:rPr lang="en-US" altLang="zh-CN"/>
              <a:t>“</a:t>
            </a:r>
            <a:r>
              <a:rPr lang="zh-CN" altLang="en-US"/>
              <a:t>孤立的双刃剑</a:t>
            </a:r>
            <a:r>
              <a:rPr lang="en-US" altLang="zh-CN"/>
              <a:t>”</a:t>
            </a:r>
            <a:r>
              <a:rPr lang="zh-CN" altLang="en-US"/>
              <a:t>）。编码员一致性很高</a:t>
            </a:r>
            <a:r>
              <a:rPr lang="en-US" altLang="zh-CN"/>
              <a:t> </a:t>
            </a:r>
            <a:r>
              <a:rPr lang="zh-CN" altLang="en-US"/>
              <a:t>（</a:t>
            </a:r>
            <a:r>
              <a:rPr lang="en-US" altLang="zh-CN"/>
              <a:t>Fleiss </a:t>
            </a:r>
            <a:r>
              <a:rPr lang="zh-CN" altLang="en-US"/>
              <a:t>的</a:t>
            </a:r>
            <a:r>
              <a:rPr lang="en-US" altLang="zh-CN"/>
              <a:t> Kappa κ = 0.82</a:t>
            </a:r>
            <a:r>
              <a:rPr lang="zh-CN" altLang="en-US"/>
              <a:t>）。</a:t>
            </a:r>
            <a:r>
              <a:rPr lang="en-US" altLang="zh-CN"/>
              <a:t>(Fleiss’s Kappa κ = 0.82).</a:t>
            </a:r>
            <a:endParaRPr lang="en-US" altLang="zh-CN"/>
          </a:p>
        </p:txBody>
      </p:sp>
      <p:pic>
        <p:nvPicPr>
          <p:cNvPr id="7" name="图片 6"/>
          <p:cNvPicPr>
            <a:picLocks noChangeAspect="1"/>
          </p:cNvPicPr>
          <p:nvPr/>
        </p:nvPicPr>
        <p:blipFill>
          <a:blip r:embed="rId3"/>
          <a:stretch>
            <a:fillRect/>
          </a:stretch>
        </p:blipFill>
        <p:spPr>
          <a:xfrm>
            <a:off x="4864735" y="927100"/>
            <a:ext cx="7150100" cy="4826000"/>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2631440" cy="460375"/>
          </a:xfrm>
          <a:prstGeom prst="rect">
            <a:avLst/>
          </a:prstGeom>
          <a:noFill/>
        </p:spPr>
        <p:txBody>
          <a:bodyPr wrap="none" rtlCol="0">
            <a:spAutoFit/>
          </a:bodyPr>
          <a:p>
            <a:r>
              <a:rPr lang="zh-CN" altLang="en-US" sz="2400" b="1" dirty="0">
                <a:solidFill>
                  <a:srgbClr val="000000">
                    <a:lumMod val="75000"/>
                    <a:lumOff val="25000"/>
                  </a:srgbClr>
                </a:solidFill>
                <a:latin typeface="黑体" panose="02010609060101010101" charset="-122"/>
                <a:ea typeface="黑体" panose="02010609060101010101" charset="-122"/>
                <a:sym typeface="思源宋体 CN Light" panose="02020300000000000000" pitchFamily="18" charset="-122"/>
              </a:rPr>
              <a:t>研究一：重复结果</a:t>
            </a:r>
            <a:endParaRPr lang="en-US" altLang="zh-CN" sz="2400" b="1" dirty="0">
              <a:solidFill>
                <a:srgbClr val="000000">
                  <a:lumMod val="75000"/>
                  <a:lumOff val="25000"/>
                </a:srgbClr>
              </a:solidFill>
              <a:latin typeface="黑体" panose="02010609060101010101" charset="-122"/>
              <a:ea typeface="黑体" panose="02010609060101010101" charset="-122"/>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554355" y="1304925"/>
            <a:ext cx="4436110" cy="2056765"/>
          </a:xfrm>
          <a:prstGeom prst="rect">
            <a:avLst/>
          </a:prstGeom>
          <a:noFill/>
        </p:spPr>
        <p:txBody>
          <a:bodyPr wrap="square" rtlCol="0">
            <a:noAutofit/>
          </a:bodyPr>
          <a:p>
            <a:pPr indent="457200"/>
            <a:r>
              <a:rPr lang="zh-CN" altLang="en-US"/>
              <a:t>美国报纸头条新闻将独处置于消极状态的可能性是正面情绪的</a:t>
            </a:r>
            <a:r>
              <a:rPr lang="en-US" altLang="zh-CN"/>
              <a:t> 10 </a:t>
            </a:r>
            <a:r>
              <a:rPr lang="zh-CN" altLang="en-US"/>
              <a:t>倍</a:t>
            </a:r>
            <a:r>
              <a:rPr lang="en-US" altLang="zh-CN"/>
              <a:t>; X</a:t>
            </a:r>
            <a:r>
              <a:rPr lang="en-US" altLang="zh-CN" baseline="30000"/>
              <a:t>2</a:t>
            </a:r>
            <a:r>
              <a:rPr lang="en-US" altLang="zh-CN"/>
              <a:t>(1) = 63.75, p &lt; .001, Cram</a:t>
            </a:r>
            <a:r>
              <a:rPr lang="en-US" altLang="en-US"/>
              <a:t>é</a:t>
            </a:r>
            <a:r>
              <a:rPr lang="en-US" altLang="zh-CN"/>
              <a:t>r’s v = 0.83</a:t>
            </a:r>
            <a:endParaRPr lang="en-US" altLang="zh-CN"/>
          </a:p>
        </p:txBody>
      </p:sp>
      <p:pic>
        <p:nvPicPr>
          <p:cNvPr id="7" name="图片 6"/>
          <p:cNvPicPr>
            <a:picLocks noChangeAspect="1"/>
          </p:cNvPicPr>
          <p:nvPr/>
        </p:nvPicPr>
        <p:blipFill>
          <a:blip r:embed="rId3"/>
          <a:stretch>
            <a:fillRect/>
          </a:stretch>
        </p:blipFill>
        <p:spPr>
          <a:xfrm>
            <a:off x="4744720" y="1108075"/>
            <a:ext cx="7112000" cy="4819650"/>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2631440" cy="460375"/>
          </a:xfrm>
          <a:prstGeom prst="rect">
            <a:avLst/>
          </a:prstGeom>
          <a:noFill/>
        </p:spPr>
        <p:txBody>
          <a:bodyPr wrap="none" rtlCol="0">
            <a:spAutoFit/>
          </a:bodyPr>
          <a:p>
            <a:r>
              <a:rPr lang="zh-CN" altLang="en-US" sz="2400" b="1" dirty="0">
                <a:solidFill>
                  <a:srgbClr val="000000">
                    <a:lumMod val="75000"/>
                    <a:lumOff val="25000"/>
                  </a:srgbClr>
                </a:solidFill>
                <a:latin typeface="黑体" panose="02010609060101010101" charset="-122"/>
                <a:ea typeface="黑体" panose="02010609060101010101" charset="-122"/>
                <a:sym typeface="思源宋体 CN Light" panose="02020300000000000000" pitchFamily="18" charset="-122"/>
              </a:rPr>
              <a:t>研究一：重复结果</a:t>
            </a:r>
            <a:endParaRPr lang="en-US" altLang="zh-CN" sz="2400" b="1" dirty="0">
              <a:solidFill>
                <a:srgbClr val="000000">
                  <a:lumMod val="75000"/>
                  <a:lumOff val="25000"/>
                </a:srgbClr>
              </a:solidFill>
              <a:latin typeface="黑体" panose="02010609060101010101" charset="-122"/>
              <a:ea typeface="黑体" panose="02010609060101010101" charset="-122"/>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554355" y="1304925"/>
            <a:ext cx="4436110" cy="2056765"/>
          </a:xfrm>
          <a:prstGeom prst="rect">
            <a:avLst/>
          </a:prstGeom>
          <a:noFill/>
        </p:spPr>
        <p:txBody>
          <a:bodyPr wrap="square" rtlCol="0">
            <a:noAutofit/>
          </a:bodyPr>
          <a:p>
            <a:r>
              <a:rPr lang="zh-CN" altLang="en-US"/>
              <a:t>负面的头条新闻出现的频率是中性标题的两倍</a:t>
            </a:r>
            <a:r>
              <a:rPr lang="en-US" altLang="zh-CN"/>
              <a:t>; X</a:t>
            </a:r>
            <a:r>
              <a:rPr lang="en-US" altLang="zh-CN" baseline="30000"/>
              <a:t>2</a:t>
            </a:r>
            <a:r>
              <a:rPr lang="en-US" altLang="zh-CN"/>
              <a:t>(1) = 13.03, p &lt; .001, Cram</a:t>
            </a:r>
            <a:r>
              <a:rPr lang="en-US" altLang="en-US"/>
              <a:t>é</a:t>
            </a:r>
            <a:r>
              <a:rPr lang="en-US" altLang="zh-CN"/>
              <a:t>r’s v = 0.32.</a:t>
            </a:r>
            <a:endParaRPr lang="en-US" altLang="zh-CN"/>
          </a:p>
        </p:txBody>
      </p:sp>
      <p:pic>
        <p:nvPicPr>
          <p:cNvPr id="7" name="图片 6"/>
          <p:cNvPicPr>
            <a:picLocks noChangeAspect="1"/>
          </p:cNvPicPr>
          <p:nvPr/>
        </p:nvPicPr>
        <p:blipFill>
          <a:blip r:embed="rId3"/>
          <a:stretch>
            <a:fillRect/>
          </a:stretch>
        </p:blipFill>
        <p:spPr>
          <a:xfrm>
            <a:off x="5257800" y="1094105"/>
            <a:ext cx="6598920" cy="4573905"/>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2631440" cy="460375"/>
          </a:xfrm>
          <a:prstGeom prst="rect">
            <a:avLst/>
          </a:prstGeom>
          <a:noFill/>
        </p:spPr>
        <p:txBody>
          <a:bodyPr wrap="none" rtlCol="0">
            <a:spAutoFit/>
          </a:bodyPr>
          <a:p>
            <a:r>
              <a:rPr lang="zh-CN" altLang="en-US" sz="2400" b="1" dirty="0">
                <a:solidFill>
                  <a:srgbClr val="000000">
                    <a:lumMod val="75000"/>
                    <a:lumOff val="25000"/>
                  </a:srgbClr>
                </a:solidFill>
                <a:latin typeface="黑体" panose="02010609060101010101" charset="-122"/>
                <a:ea typeface="黑体" panose="02010609060101010101" charset="-122"/>
                <a:sym typeface="思源宋体 CN Light" panose="02020300000000000000" pitchFamily="18" charset="-122"/>
              </a:rPr>
              <a:t>研究一：重复结果</a:t>
            </a:r>
            <a:endParaRPr lang="en-US" altLang="zh-CN" sz="2400" b="1" dirty="0">
              <a:solidFill>
                <a:srgbClr val="000000">
                  <a:lumMod val="75000"/>
                  <a:lumOff val="25000"/>
                </a:srgbClr>
              </a:solidFill>
              <a:latin typeface="黑体" panose="02010609060101010101" charset="-122"/>
              <a:ea typeface="黑体" panose="02010609060101010101" charset="-122"/>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554355" y="1304925"/>
            <a:ext cx="4436110" cy="2056765"/>
          </a:xfrm>
          <a:prstGeom prst="rect">
            <a:avLst/>
          </a:prstGeom>
          <a:noFill/>
        </p:spPr>
        <p:txBody>
          <a:bodyPr wrap="square" rtlCol="0">
            <a:noAutofit/>
          </a:bodyPr>
          <a:p>
            <a:r>
              <a:rPr lang="zh-CN" altLang="en-US"/>
              <a:t>对每篇文章全文的分析揭示了相似的结果模式</a:t>
            </a:r>
            <a:r>
              <a:rPr lang="en-US" altLang="zh-CN"/>
              <a:t>;</a:t>
            </a:r>
            <a:r>
              <a:rPr lang="zh-CN" altLang="en-US"/>
              <a:t>美国新闻报道的可能性是</a:t>
            </a:r>
            <a:r>
              <a:rPr lang="en-US" altLang="zh-CN"/>
              <a:t> 5 </a:t>
            </a:r>
            <a:r>
              <a:rPr lang="zh-CN" altLang="en-US"/>
              <a:t>倍提到独处的风险而不是它的好处</a:t>
            </a:r>
            <a:r>
              <a:rPr lang="en-US" altLang="zh-CN"/>
              <a:t>; X</a:t>
            </a:r>
            <a:r>
              <a:rPr lang="en-US" altLang="zh-CN" baseline="30000"/>
              <a:t>2</a:t>
            </a:r>
            <a:r>
              <a:rPr lang="en-US" altLang="zh-CN"/>
              <a:t>(1) = 41.78, p &lt; .001,Cram</a:t>
            </a:r>
            <a:r>
              <a:rPr lang="en-US" altLang="en-US"/>
              <a:t>é</a:t>
            </a:r>
            <a:r>
              <a:rPr lang="en-US" altLang="zh-CN"/>
              <a:t>r’s v = 0.66.</a:t>
            </a:r>
            <a:endParaRPr lang="en-US" altLang="zh-CN"/>
          </a:p>
        </p:txBody>
      </p:sp>
      <p:pic>
        <p:nvPicPr>
          <p:cNvPr id="7" name="图片 6"/>
          <p:cNvPicPr>
            <a:picLocks noChangeAspect="1"/>
          </p:cNvPicPr>
          <p:nvPr/>
        </p:nvPicPr>
        <p:blipFill>
          <a:blip r:embed="rId3"/>
          <a:stretch>
            <a:fillRect/>
          </a:stretch>
        </p:blipFill>
        <p:spPr>
          <a:xfrm>
            <a:off x="5088890" y="1174750"/>
            <a:ext cx="6767830" cy="4933315"/>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2631440" cy="460375"/>
          </a:xfrm>
          <a:prstGeom prst="rect">
            <a:avLst/>
          </a:prstGeom>
          <a:noFill/>
        </p:spPr>
        <p:txBody>
          <a:bodyPr wrap="none" rtlCol="0">
            <a:spAutoFit/>
          </a:bodyPr>
          <a:p>
            <a:r>
              <a:rPr lang="zh-CN" altLang="en-US" sz="2400" b="1" dirty="0">
                <a:solidFill>
                  <a:srgbClr val="000000">
                    <a:lumMod val="75000"/>
                    <a:lumOff val="25000"/>
                  </a:srgbClr>
                </a:solidFill>
                <a:latin typeface="黑体" panose="02010609060101010101" charset="-122"/>
                <a:ea typeface="黑体" panose="02010609060101010101" charset="-122"/>
                <a:sym typeface="思源宋体 CN Light" panose="02020300000000000000" pitchFamily="18" charset="-122"/>
              </a:rPr>
              <a:t>研究一：重复结果</a:t>
            </a:r>
            <a:endParaRPr lang="en-US" altLang="zh-CN" sz="2400" b="1" dirty="0">
              <a:solidFill>
                <a:srgbClr val="000000">
                  <a:lumMod val="75000"/>
                  <a:lumOff val="25000"/>
                </a:srgbClr>
              </a:solidFill>
              <a:latin typeface="黑体" panose="02010609060101010101" charset="-122"/>
              <a:ea typeface="黑体" panose="02010609060101010101" charset="-122"/>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554355" y="1304925"/>
            <a:ext cx="4436110" cy="2056765"/>
          </a:xfrm>
          <a:prstGeom prst="rect">
            <a:avLst/>
          </a:prstGeom>
          <a:noFill/>
        </p:spPr>
        <p:txBody>
          <a:bodyPr wrap="square" rtlCol="0">
            <a:noAutofit/>
          </a:bodyPr>
          <a:p>
            <a:r>
              <a:rPr lang="zh-CN" altLang="en-US"/>
              <a:t>此外，他们提到独处风险的可能性是就独处做出中立陈述的可能性的七倍以上</a:t>
            </a:r>
            <a:r>
              <a:rPr lang="en-US" altLang="zh-CN"/>
              <a:t>; X</a:t>
            </a:r>
            <a:r>
              <a:rPr lang="en-US" altLang="zh-CN" baseline="30000"/>
              <a:t>2</a:t>
            </a:r>
            <a:r>
              <a:rPr lang="en-US" altLang="zh-CN"/>
              <a:t>(1) = 49.33, p &lt; .001, Cram</a:t>
            </a:r>
            <a:r>
              <a:rPr lang="en-US" altLang="en-US"/>
              <a:t>é</a:t>
            </a:r>
            <a:r>
              <a:rPr lang="en-US" altLang="zh-CN"/>
              <a:t>r’s v = 0.74</a:t>
            </a:r>
            <a:endParaRPr lang="en-US" altLang="zh-CN"/>
          </a:p>
        </p:txBody>
      </p:sp>
      <p:pic>
        <p:nvPicPr>
          <p:cNvPr id="7" name="图片 6"/>
          <p:cNvPicPr>
            <a:picLocks noChangeAspect="1"/>
          </p:cNvPicPr>
          <p:nvPr/>
        </p:nvPicPr>
        <p:blipFill>
          <a:blip r:embed="rId3"/>
          <a:stretch>
            <a:fillRect/>
          </a:stretch>
        </p:blipFill>
        <p:spPr>
          <a:xfrm>
            <a:off x="5820410" y="1304925"/>
            <a:ext cx="6035675" cy="4117340"/>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2631440" cy="460375"/>
          </a:xfrm>
          <a:prstGeom prst="rect">
            <a:avLst/>
          </a:prstGeom>
          <a:noFill/>
        </p:spPr>
        <p:txBody>
          <a:bodyPr wrap="none" rtlCol="0">
            <a:spAutoFit/>
          </a:bodyPr>
          <a:p>
            <a:r>
              <a:rPr lang="zh-CN" altLang="en-US" sz="2400" b="1" dirty="0">
                <a:solidFill>
                  <a:srgbClr val="000000">
                    <a:lumMod val="75000"/>
                    <a:lumOff val="25000"/>
                  </a:srgbClr>
                </a:solidFill>
                <a:latin typeface="黑体" panose="02010609060101010101" charset="-122"/>
                <a:ea typeface="黑体" panose="02010609060101010101" charset="-122"/>
                <a:sym typeface="思源宋体 CN Light" panose="02020300000000000000" pitchFamily="18" charset="-122"/>
              </a:rPr>
              <a:t>研究一：重复结果</a:t>
            </a:r>
            <a:endParaRPr lang="en-US" altLang="zh-CN" sz="2400" b="1" dirty="0">
              <a:solidFill>
                <a:srgbClr val="000000">
                  <a:lumMod val="75000"/>
                  <a:lumOff val="25000"/>
                </a:srgbClr>
              </a:solidFill>
              <a:latin typeface="黑体" panose="02010609060101010101" charset="-122"/>
              <a:ea typeface="黑体" panose="02010609060101010101" charset="-122"/>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554355" y="1304925"/>
            <a:ext cx="4436110" cy="2056765"/>
          </a:xfrm>
          <a:prstGeom prst="rect">
            <a:avLst/>
          </a:prstGeom>
          <a:noFill/>
        </p:spPr>
        <p:txBody>
          <a:bodyPr wrap="square" rtlCol="0">
            <a:noAutofit/>
          </a:bodyPr>
          <a:p>
            <a:r>
              <a:rPr lang="zh-CN" altLang="en-US"/>
              <a:t>我们意识到这些影响可能是由专注于孤立的文章驱动的，与仅仅独处相比，这通常意味着更长期缺乏社交联系。为了探讨这一点，我们将仅使用术语</a:t>
            </a:r>
            <a:r>
              <a:rPr lang="en-US" altLang="zh-CN"/>
              <a:t> “</a:t>
            </a:r>
            <a:r>
              <a:rPr lang="zh-CN" altLang="en-US"/>
              <a:t>隔离</a:t>
            </a:r>
            <a:r>
              <a:rPr lang="en-US" altLang="zh-CN"/>
              <a:t>” </a:t>
            </a:r>
            <a:r>
              <a:rPr lang="zh-CN" altLang="en-US"/>
              <a:t>（</a:t>
            </a:r>
            <a:r>
              <a:rPr lang="en-US" altLang="zh-CN"/>
              <a:t>n = 49</a:t>
            </a:r>
            <a:r>
              <a:rPr lang="zh-CN" altLang="en-US"/>
              <a:t>）</a:t>
            </a:r>
            <a:r>
              <a:rPr lang="en-US" altLang="zh-CN"/>
              <a:t> </a:t>
            </a:r>
            <a:r>
              <a:rPr lang="zh-CN" altLang="en-US"/>
              <a:t>的文章与完整的文章样本进行了比较。这两组在提及任何益处时都没有出现统计学上的显着差异（</a:t>
            </a:r>
            <a:r>
              <a:rPr lang="en-US" altLang="zh-CN"/>
              <a:t>6.1% </a:t>
            </a:r>
            <a:r>
              <a:rPr lang="zh-CN" altLang="en-US"/>
              <a:t>仅隔离</a:t>
            </a:r>
            <a:r>
              <a:rPr lang="en-US" altLang="zh-CN"/>
              <a:t> vs. 11.1% </a:t>
            </a:r>
            <a:r>
              <a:rPr lang="zh-CN" altLang="en-US"/>
              <a:t>完整样本</a:t>
            </a:r>
            <a:r>
              <a:rPr lang="en-US" altLang="zh-CN"/>
              <a:t>;X</a:t>
            </a:r>
            <a:r>
              <a:rPr lang="en-US" altLang="en-US"/>
              <a:t>²</a:t>
            </a:r>
            <a:r>
              <a:rPr lang="zh-CN" altLang="en-US"/>
              <a:t>（</a:t>
            </a:r>
            <a:r>
              <a:rPr lang="en-US" altLang="zh-CN"/>
              <a:t>1</a:t>
            </a:r>
            <a:r>
              <a:rPr lang="zh-CN" altLang="en-US"/>
              <a:t>）</a:t>
            </a:r>
            <a:r>
              <a:rPr lang="en-US" altLang="zh-CN"/>
              <a:t> = 0.54</a:t>
            </a:r>
            <a:r>
              <a:rPr lang="zh-CN" altLang="en-US"/>
              <a:t>，</a:t>
            </a:r>
            <a:r>
              <a:rPr lang="en-US" altLang="zh-CN"/>
              <a:t>p = .462</a:t>
            </a:r>
            <a:r>
              <a:rPr lang="zh-CN" altLang="en-US"/>
              <a:t>）或风险</a:t>
            </a:r>
            <a:endParaRPr lang="zh-CN" altLang="en-US"/>
          </a:p>
          <a:p>
            <a:r>
              <a:rPr lang="zh-CN" altLang="en-US"/>
              <a:t>（</a:t>
            </a:r>
            <a:r>
              <a:rPr lang="en-US" altLang="zh-CN"/>
              <a:t>59.2% </a:t>
            </a:r>
            <a:r>
              <a:rPr lang="zh-CN" altLang="en-US"/>
              <a:t>仅分离样本</a:t>
            </a:r>
            <a:r>
              <a:rPr lang="en-US" altLang="zh-CN"/>
              <a:t> vs. 52.6% </a:t>
            </a:r>
            <a:r>
              <a:rPr lang="zh-CN" altLang="en-US"/>
              <a:t>完整样本</a:t>
            </a:r>
            <a:r>
              <a:rPr lang="en-US" altLang="zh-CN"/>
              <a:t>;X</a:t>
            </a:r>
            <a:r>
              <a:rPr lang="en-US" altLang="en-US"/>
              <a:t>²</a:t>
            </a:r>
            <a:r>
              <a:rPr lang="zh-CN" altLang="en-US"/>
              <a:t>（</a:t>
            </a:r>
            <a:r>
              <a:rPr lang="en-US" altLang="zh-CN"/>
              <a:t>1</a:t>
            </a:r>
            <a:r>
              <a:rPr lang="zh-CN" altLang="en-US"/>
              <a:t>）</a:t>
            </a:r>
            <a:r>
              <a:rPr lang="en-US" altLang="zh-CN"/>
              <a:t> = 0.33</a:t>
            </a:r>
            <a:r>
              <a:rPr lang="zh-CN" altLang="en-US"/>
              <a:t>，</a:t>
            </a:r>
            <a:r>
              <a:rPr lang="en-US" altLang="zh-CN"/>
              <a:t> p = .567</a:t>
            </a:r>
            <a:r>
              <a:rPr lang="zh-CN" altLang="en-US"/>
              <a:t>）</a:t>
            </a:r>
            <a:r>
              <a:rPr lang="en-US" altLang="zh-CN"/>
              <a:t> </a:t>
            </a:r>
            <a:r>
              <a:rPr lang="zh-CN" altLang="en-US"/>
              <a:t>的独处。</a:t>
            </a:r>
            <a:endParaRPr lang="zh-CN" altLang="en-US"/>
          </a:p>
        </p:txBody>
      </p:sp>
      <p:pic>
        <p:nvPicPr>
          <p:cNvPr id="8" name="图片 7"/>
          <p:cNvPicPr>
            <a:picLocks noChangeAspect="1"/>
          </p:cNvPicPr>
          <p:nvPr/>
        </p:nvPicPr>
        <p:blipFill>
          <a:blip r:embed="rId3"/>
          <a:stretch>
            <a:fillRect/>
          </a:stretch>
        </p:blipFill>
        <p:spPr>
          <a:xfrm>
            <a:off x="5443855" y="1122680"/>
            <a:ext cx="6498590" cy="4591050"/>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2631440" cy="460375"/>
          </a:xfrm>
          <a:prstGeom prst="rect">
            <a:avLst/>
          </a:prstGeom>
          <a:noFill/>
        </p:spPr>
        <p:txBody>
          <a:bodyPr wrap="none" rtlCol="0">
            <a:spAutoFit/>
          </a:bodyPr>
          <a:p>
            <a:r>
              <a:rPr lang="zh-CN" altLang="en-US" sz="2400" b="1" dirty="0">
                <a:solidFill>
                  <a:srgbClr val="000000">
                    <a:lumMod val="75000"/>
                    <a:lumOff val="25000"/>
                  </a:srgbClr>
                </a:solidFill>
                <a:latin typeface="黑体" panose="02010609060101010101" charset="-122"/>
                <a:ea typeface="黑体" panose="02010609060101010101" charset="-122"/>
                <a:sym typeface="思源宋体 CN Light" panose="02020300000000000000" pitchFamily="18" charset="-122"/>
              </a:rPr>
              <a:t>研究一：重复结果</a:t>
            </a:r>
            <a:endParaRPr lang="en-US" altLang="zh-CN" sz="2400" b="1" dirty="0">
              <a:solidFill>
                <a:srgbClr val="000000">
                  <a:lumMod val="75000"/>
                  <a:lumOff val="25000"/>
                </a:srgbClr>
              </a:solidFill>
              <a:latin typeface="黑体" panose="02010609060101010101" charset="-122"/>
              <a:ea typeface="黑体" panose="02010609060101010101" charset="-122"/>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554355" y="1304925"/>
            <a:ext cx="4436110" cy="2056765"/>
          </a:xfrm>
          <a:prstGeom prst="rect">
            <a:avLst/>
          </a:prstGeom>
          <a:noFill/>
        </p:spPr>
        <p:txBody>
          <a:bodyPr wrap="square" rtlCol="0">
            <a:noAutofit/>
          </a:bodyPr>
          <a:p>
            <a:r>
              <a:rPr lang="zh-CN" altLang="en-US">
                <a:sym typeface="+mn-ea"/>
              </a:rPr>
              <a:t>我们意识到这些影响可能是由专注于孤立的文章驱动的，与仅仅独处相比，这通常意味着更长期缺乏社交联系。为了探讨这一点，我们将仅使用术语</a:t>
            </a:r>
            <a:r>
              <a:rPr lang="en-US" altLang="zh-CN">
                <a:sym typeface="+mn-ea"/>
              </a:rPr>
              <a:t> “</a:t>
            </a:r>
            <a:r>
              <a:rPr lang="zh-CN" altLang="en-US">
                <a:sym typeface="+mn-ea"/>
              </a:rPr>
              <a:t>隔离</a:t>
            </a:r>
            <a:r>
              <a:rPr lang="en-US" altLang="zh-CN">
                <a:sym typeface="+mn-ea"/>
              </a:rPr>
              <a:t>” </a:t>
            </a:r>
            <a:r>
              <a:rPr lang="zh-CN" altLang="en-US">
                <a:sym typeface="+mn-ea"/>
              </a:rPr>
              <a:t>（</a:t>
            </a:r>
            <a:r>
              <a:rPr lang="en-US" altLang="zh-CN">
                <a:sym typeface="+mn-ea"/>
              </a:rPr>
              <a:t>n = 49</a:t>
            </a:r>
            <a:r>
              <a:rPr lang="zh-CN" altLang="en-US">
                <a:sym typeface="+mn-ea"/>
              </a:rPr>
              <a:t>）</a:t>
            </a:r>
            <a:r>
              <a:rPr lang="en-US" altLang="zh-CN">
                <a:sym typeface="+mn-ea"/>
              </a:rPr>
              <a:t> </a:t>
            </a:r>
            <a:r>
              <a:rPr lang="zh-CN" altLang="en-US">
                <a:sym typeface="+mn-ea"/>
              </a:rPr>
              <a:t>的文章与完整的文章样本进行了比较。这两组在提及任何益处时都没有出现统计学上的显着差异（</a:t>
            </a:r>
            <a:r>
              <a:rPr lang="en-US" altLang="zh-CN">
                <a:sym typeface="+mn-ea"/>
              </a:rPr>
              <a:t>6.1% </a:t>
            </a:r>
            <a:r>
              <a:rPr lang="zh-CN" altLang="en-US">
                <a:sym typeface="+mn-ea"/>
              </a:rPr>
              <a:t>仅隔离</a:t>
            </a:r>
            <a:r>
              <a:rPr lang="en-US" altLang="zh-CN">
                <a:sym typeface="+mn-ea"/>
              </a:rPr>
              <a:t> vs. 11.1% </a:t>
            </a:r>
            <a:r>
              <a:rPr lang="zh-CN" altLang="en-US">
                <a:sym typeface="+mn-ea"/>
              </a:rPr>
              <a:t>完整样本</a:t>
            </a:r>
            <a:r>
              <a:rPr lang="en-US" altLang="zh-CN">
                <a:sym typeface="+mn-ea"/>
              </a:rPr>
              <a:t>;X</a:t>
            </a:r>
            <a:r>
              <a:rPr lang="en-US" altLang="en-US">
                <a:sym typeface="+mn-ea"/>
              </a:rPr>
              <a:t>²</a:t>
            </a:r>
            <a:r>
              <a:rPr lang="zh-CN" altLang="en-US">
                <a:sym typeface="+mn-ea"/>
              </a:rPr>
              <a:t>（</a:t>
            </a:r>
            <a:r>
              <a:rPr lang="en-US" altLang="zh-CN">
                <a:sym typeface="+mn-ea"/>
              </a:rPr>
              <a:t>1</a:t>
            </a:r>
            <a:r>
              <a:rPr lang="zh-CN" altLang="en-US">
                <a:sym typeface="+mn-ea"/>
              </a:rPr>
              <a:t>）</a:t>
            </a:r>
            <a:r>
              <a:rPr lang="en-US" altLang="zh-CN">
                <a:sym typeface="+mn-ea"/>
              </a:rPr>
              <a:t> = 0.54</a:t>
            </a:r>
            <a:r>
              <a:rPr lang="zh-CN" altLang="en-US">
                <a:sym typeface="+mn-ea"/>
              </a:rPr>
              <a:t>，</a:t>
            </a:r>
            <a:r>
              <a:rPr lang="en-US" altLang="zh-CN">
                <a:sym typeface="+mn-ea"/>
              </a:rPr>
              <a:t>p = .462</a:t>
            </a:r>
            <a:r>
              <a:rPr lang="zh-CN" altLang="en-US">
                <a:sym typeface="+mn-ea"/>
              </a:rPr>
              <a:t>）或风险</a:t>
            </a:r>
            <a:endParaRPr lang="zh-CN" altLang="en-US"/>
          </a:p>
          <a:p>
            <a:r>
              <a:rPr lang="zh-CN" altLang="en-US">
                <a:sym typeface="+mn-ea"/>
              </a:rPr>
              <a:t>（</a:t>
            </a:r>
            <a:r>
              <a:rPr lang="en-US" altLang="zh-CN">
                <a:sym typeface="+mn-ea"/>
              </a:rPr>
              <a:t>59.2% </a:t>
            </a:r>
            <a:r>
              <a:rPr lang="zh-CN" altLang="en-US">
                <a:sym typeface="+mn-ea"/>
              </a:rPr>
              <a:t>仅分离样本</a:t>
            </a:r>
            <a:r>
              <a:rPr lang="en-US" altLang="zh-CN">
                <a:sym typeface="+mn-ea"/>
              </a:rPr>
              <a:t> vs. 52.6% </a:t>
            </a:r>
            <a:r>
              <a:rPr lang="zh-CN" altLang="en-US">
                <a:sym typeface="+mn-ea"/>
              </a:rPr>
              <a:t>完整样本</a:t>
            </a:r>
            <a:r>
              <a:rPr lang="en-US" altLang="zh-CN">
                <a:sym typeface="+mn-ea"/>
              </a:rPr>
              <a:t>;X</a:t>
            </a:r>
            <a:r>
              <a:rPr lang="en-US" altLang="en-US">
                <a:sym typeface="+mn-ea"/>
              </a:rPr>
              <a:t>²</a:t>
            </a:r>
            <a:r>
              <a:rPr lang="zh-CN" altLang="en-US">
                <a:sym typeface="+mn-ea"/>
              </a:rPr>
              <a:t>（</a:t>
            </a:r>
            <a:r>
              <a:rPr lang="en-US" altLang="zh-CN">
                <a:sym typeface="+mn-ea"/>
              </a:rPr>
              <a:t>1</a:t>
            </a:r>
            <a:r>
              <a:rPr lang="zh-CN" altLang="en-US">
                <a:sym typeface="+mn-ea"/>
              </a:rPr>
              <a:t>）</a:t>
            </a:r>
            <a:r>
              <a:rPr lang="en-US" altLang="zh-CN">
                <a:sym typeface="+mn-ea"/>
              </a:rPr>
              <a:t> = 0.33</a:t>
            </a:r>
            <a:r>
              <a:rPr lang="zh-CN" altLang="en-US">
                <a:sym typeface="+mn-ea"/>
              </a:rPr>
              <a:t>，</a:t>
            </a:r>
            <a:r>
              <a:rPr lang="en-US" altLang="zh-CN">
                <a:sym typeface="+mn-ea"/>
              </a:rPr>
              <a:t> p = .567</a:t>
            </a:r>
            <a:r>
              <a:rPr lang="zh-CN" altLang="en-US">
                <a:sym typeface="+mn-ea"/>
              </a:rPr>
              <a:t>）</a:t>
            </a:r>
            <a:r>
              <a:rPr lang="en-US" altLang="zh-CN">
                <a:sym typeface="+mn-ea"/>
              </a:rPr>
              <a:t> </a:t>
            </a:r>
            <a:r>
              <a:rPr lang="zh-CN" altLang="en-US">
                <a:sym typeface="+mn-ea"/>
              </a:rPr>
              <a:t>的独处。</a:t>
            </a:r>
            <a:endParaRPr lang="en-US" altLang="zh-CN"/>
          </a:p>
        </p:txBody>
      </p:sp>
      <p:pic>
        <p:nvPicPr>
          <p:cNvPr id="5" name="图片 4"/>
          <p:cNvPicPr>
            <a:picLocks noChangeAspect="1"/>
          </p:cNvPicPr>
          <p:nvPr/>
        </p:nvPicPr>
        <p:blipFill>
          <a:blip r:embed="rId3"/>
          <a:stretch>
            <a:fillRect/>
          </a:stretch>
        </p:blipFill>
        <p:spPr>
          <a:xfrm>
            <a:off x="5327015" y="1108075"/>
            <a:ext cx="6615430" cy="4523740"/>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直角三角形 4"/>
          <p:cNvSpPr/>
          <p:nvPr/>
        </p:nvSpPr>
        <p:spPr>
          <a:xfrm rot="5400000">
            <a:off x="0" y="0"/>
            <a:ext cx="3716655" cy="3716655"/>
          </a:xfrm>
          <a:prstGeom prst="rtTriangle">
            <a:avLst/>
          </a:prstGeom>
          <a:solidFill>
            <a:srgbClr val="006A4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直角三角形 5"/>
          <p:cNvSpPr/>
          <p:nvPr/>
        </p:nvSpPr>
        <p:spPr>
          <a:xfrm rot="16200000">
            <a:off x="8484870" y="3169920"/>
            <a:ext cx="3716655" cy="3716655"/>
          </a:xfrm>
          <a:prstGeom prst="rtTriangle">
            <a:avLst/>
          </a:prstGeom>
          <a:solidFill>
            <a:srgbClr val="006A4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矩形 9"/>
          <p:cNvSpPr/>
          <p:nvPr/>
        </p:nvSpPr>
        <p:spPr>
          <a:xfrm>
            <a:off x="242570" y="680085"/>
            <a:ext cx="11707495" cy="5502275"/>
          </a:xfrm>
          <a:prstGeom prst="rect">
            <a:avLst/>
          </a:prstGeom>
          <a:solidFill>
            <a:schemeClr val="bg1"/>
          </a:solidFill>
          <a:ln>
            <a:noFill/>
          </a:ln>
          <a:effectLst>
            <a:outerShdw blurRad="127000" dist="38100" algn="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矩形 8"/>
          <p:cNvSpPr/>
          <p:nvPr/>
        </p:nvSpPr>
        <p:spPr>
          <a:xfrm>
            <a:off x="242570" y="680085"/>
            <a:ext cx="11707495" cy="5502275"/>
          </a:xfrm>
          <a:prstGeom prst="rect">
            <a:avLst/>
          </a:prstGeom>
          <a:blipFill rotWithShape="1">
            <a:blip r:embed="rId1">
              <a:alphaModFix amt="15000"/>
            </a:blip>
            <a:stretch>
              <a:fillRect/>
            </a:stretch>
          </a:blipFill>
          <a:ln>
            <a:noFill/>
          </a:ln>
          <a:effectLst>
            <a:outerShdw blurRad="127000" dist="63500" algn="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1517015" y="3129280"/>
            <a:ext cx="9620250" cy="922020"/>
          </a:xfrm>
          <a:prstGeom prst="rect">
            <a:avLst/>
          </a:prstGeom>
        </p:spPr>
        <p:txBody>
          <a:bodyPr wrap="square">
            <a:spAutoFit/>
            <a:extLst>
              <a:ext uri="{4A0BC546-FE56-4ADE-93B0-CB8AF2F6F144}">
                <wpsdc:textFrameExt xmlns:wpsdc="http://www.wps.cn/officeDocument/2022/drawingmlCustomData" type="text"/>
              </a:ext>
            </a:extLst>
          </a:bodyPr>
          <a:p>
            <a:pPr algn="ctr"/>
            <a:r>
              <a:rPr lang="zh-CN" altLang="en-US" sz="5400">
                <a:latin typeface="黑体" panose="02010609060101010101" charset="-122"/>
                <a:ea typeface="黑体" panose="02010609060101010101" charset="-122"/>
                <a:cs typeface="黑体" panose="02010609060101010101" charset="-122"/>
              </a:rPr>
              <a:t>恳请各位老师批评指正</a:t>
            </a:r>
            <a:endParaRPr lang="zh-CN" altLang="en-US" sz="5400">
              <a:latin typeface="黑体" panose="02010609060101010101" charset="-122"/>
              <a:ea typeface="黑体" panose="02010609060101010101" charset="-122"/>
              <a:cs typeface="黑体" panose="02010609060101010101" charset="-122"/>
            </a:endParaRPr>
          </a:p>
        </p:txBody>
      </p:sp>
      <p:pic>
        <p:nvPicPr>
          <p:cNvPr id="2" name="图片 1" descr="南京师范大学（黑）"/>
          <p:cNvPicPr>
            <a:picLocks noChangeAspect="1"/>
          </p:cNvPicPr>
          <p:nvPr/>
        </p:nvPicPr>
        <p:blipFill>
          <a:blip r:embed="rId2"/>
          <a:stretch>
            <a:fillRect/>
          </a:stretch>
        </p:blipFill>
        <p:spPr>
          <a:xfrm>
            <a:off x="3377565" y="-30480"/>
            <a:ext cx="5464282" cy="3862800"/>
          </a:xfrm>
          <a:prstGeom prst="rect">
            <a:avLst/>
          </a:prstGeom>
        </p:spPr>
      </p:pic>
      <p:pic>
        <p:nvPicPr>
          <p:cNvPr id="15" name="图片 14" descr="校徽-绿"/>
          <p:cNvPicPr>
            <a:picLocks noChangeAspect="1"/>
          </p:cNvPicPr>
          <p:nvPr/>
        </p:nvPicPr>
        <p:blipFill>
          <a:blip r:embed="rId3"/>
          <a:stretch>
            <a:fillRect/>
          </a:stretch>
        </p:blipFill>
        <p:spPr>
          <a:xfrm>
            <a:off x="3394075" y="718185"/>
            <a:ext cx="1530985" cy="2166620"/>
          </a:xfrm>
          <a:prstGeom prst="rect">
            <a:avLst/>
          </a:prstGeom>
        </p:spPr>
      </p:pic>
      <p:sp>
        <p:nvSpPr>
          <p:cNvPr id="11" name="文本框 10"/>
          <p:cNvSpPr txBox="1"/>
          <p:nvPr>
            <p:custDataLst>
              <p:tags r:id="rId4"/>
            </p:custDataLst>
          </p:nvPr>
        </p:nvSpPr>
        <p:spPr>
          <a:xfrm>
            <a:off x="5137785" y="5163820"/>
            <a:ext cx="2247265" cy="36830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800">
                <a:latin typeface="黑体" panose="02010609060101010101" charset="-122"/>
                <a:ea typeface="黑体" panose="02010609060101010101" charset="-122"/>
                <a:cs typeface="黑体" panose="02010609060101010101" charset="-122"/>
              </a:rPr>
              <a:t>答辩时间：</a:t>
            </a:r>
            <a:r>
              <a:rPr lang="en-US" altLang="zh-CN" sz="1800">
                <a:latin typeface="黑体" panose="02010609060101010101" charset="-122"/>
                <a:ea typeface="黑体" panose="02010609060101010101" charset="-122"/>
                <a:cs typeface="黑体" panose="02010609060101010101" charset="-122"/>
              </a:rPr>
              <a:t>XX</a:t>
            </a:r>
            <a:r>
              <a:rPr lang="zh-CN" altLang="en-US" sz="1800">
                <a:latin typeface="黑体" panose="02010609060101010101" charset="-122"/>
                <a:ea typeface="黑体" panose="02010609060101010101" charset="-122"/>
                <a:cs typeface="黑体" panose="02010609060101010101" charset="-122"/>
              </a:rPr>
              <a:t>年</a:t>
            </a:r>
            <a:r>
              <a:rPr lang="en-US" altLang="zh-CN" sz="1800">
                <a:latin typeface="黑体" panose="02010609060101010101" charset="-122"/>
                <a:ea typeface="黑体" panose="02010609060101010101" charset="-122"/>
                <a:cs typeface="黑体" panose="02010609060101010101" charset="-122"/>
              </a:rPr>
              <a:t>XX</a:t>
            </a:r>
            <a:r>
              <a:rPr lang="zh-CN" altLang="en-US" sz="1800">
                <a:latin typeface="黑体" panose="02010609060101010101" charset="-122"/>
                <a:ea typeface="黑体" panose="02010609060101010101" charset="-122"/>
                <a:cs typeface="黑体" panose="02010609060101010101" charset="-122"/>
              </a:rPr>
              <a:t>月</a:t>
            </a:r>
            <a:endParaRPr lang="zh-CN" altLang="en-US" sz="1800">
              <a:latin typeface="黑体" panose="02010609060101010101" charset="-122"/>
              <a:ea typeface="黑体" panose="02010609060101010101" charset="-122"/>
              <a:cs typeface="黑体" panose="02010609060101010101" charset="-122"/>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57_3*l_h_i*1_1_1"/>
  <p:tag name="KSO_WM_TEMPLATE_CATEGORY" val="diagram"/>
  <p:tag name="KSO_WM_TEMPLATE_INDEX" val="20231057"/>
  <p:tag name="KSO_WM_UNIT_LAYERLEVEL" val="1_1_1"/>
  <p:tag name="KSO_WM_TAG_VERSION" val="3.0"/>
  <p:tag name="KSO_WM_DIAGRAM_VERSION" val="3"/>
  <p:tag name="KSO_WM_DIAGRAM_COLOR_TRICK" val="4"/>
  <p:tag name="KSO_WM_DIAGRAM_COLOR_TEXT_CAN_REMOVE" val="n"/>
  <p:tag name="KSO_WM_DIAGRAM_GROUP_CODE" val="l1-1"/>
  <p:tag name="KSO_WM_UNIT_TYPE" val="l_h_i"/>
  <p:tag name="KSO_WM_UNIT_INDEX" val="1_1_1"/>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gradient&quot;:[{&quot;brightness&quot;:0.25,&quot;colorType&quot;:1,&quot;foreColorIndex&quot;:5,&quot;pos&quot;:0,&quot;transparency&quot;:0},{&quot;brightness&quot;:0.15000000596046448,&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057_3*l_h_x*1_1_1"/>
  <p:tag name="KSO_WM_TEMPLATE_CATEGORY" val="diagram"/>
  <p:tag name="KSO_WM_TEMPLATE_INDEX" val="20231057"/>
  <p:tag name="KSO_WM_UNIT_LAYERLEVEL" val="1_1_1"/>
  <p:tag name="KSO_WM_TAG_VERSION" val="3.0"/>
  <p:tag name="KSO_WM_DIAGRAM_VERSION" val="3"/>
  <p:tag name="KSO_WM_DIAGRAM_COLOR_TRICK" val="4"/>
  <p:tag name="KSO_WM_DIAGRAM_COLOR_TEXT_CAN_REMOVE" val="n"/>
  <p:tag name="KSO_WM_UNIT_VALUE" val="56*58"/>
  <p:tag name="KSO_WM_UNIT_TYPE" val="l_h_x"/>
  <p:tag name="KSO_WM_UNIT_INDEX" val="1_1_1"/>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 name="KSO_WM_UNIT_USESOURCEFORMAT_APPLY" val="0"/>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57_3*l_h_i*1_4_1"/>
  <p:tag name="KSO_WM_TEMPLATE_CATEGORY" val="diagram"/>
  <p:tag name="KSO_WM_TEMPLATE_INDEX" val="20231057"/>
  <p:tag name="KSO_WM_UNIT_LAYERLEVEL" val="1_1_1"/>
  <p:tag name="KSO_WM_TAG_VERSION" val="3.0"/>
  <p:tag name="KSO_WM_DIAGRAM_VERSION" val="3"/>
  <p:tag name="KSO_WM_DIAGRAM_COLOR_TRICK" val="4"/>
  <p:tag name="KSO_WM_DIAGRAM_COLOR_TEXT_CAN_REMOVE" val="n"/>
  <p:tag name="KSO_WM_DIAGRAM_GROUP_CODE" val="l1-1"/>
  <p:tag name="KSO_WM_UNIT_TYPE" val="l_h_i"/>
  <p:tag name="KSO_WM_UNIT_INDEX" val="1_4_1"/>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gradient&quot;:[{&quot;brightness&quot;:0.25,&quot;colorType&quot;:1,&quot;foreColorIndex&quot;:8,&quot;pos&quot;:0,&quot;transparency&quot;:0},{&quot;brightness&quot;:0.15000000596046448,&quot;colorType&quot;:1,&quot;foreColorIndex&quot;:8,&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057_3*l_h_x*1_4_1"/>
  <p:tag name="KSO_WM_TEMPLATE_CATEGORY" val="diagram"/>
  <p:tag name="KSO_WM_TEMPLATE_INDEX" val="20231057"/>
  <p:tag name="KSO_WM_UNIT_LAYERLEVEL" val="1_1_1"/>
  <p:tag name="KSO_WM_TAG_VERSION" val="3.0"/>
  <p:tag name="KSO_WM_DIAGRAM_VERSION" val="3"/>
  <p:tag name="KSO_WM_DIAGRAM_COLOR_TRICK" val="4"/>
  <p:tag name="KSO_WM_DIAGRAM_COLOR_TEXT_CAN_REMOVE" val="n"/>
  <p:tag name="KSO_WM_UNIT_VALUE" val="53*45"/>
  <p:tag name="KSO_WM_UNIT_TYPE" val="l_h_x"/>
  <p:tag name="KSO_WM_UNIT_INDEX" val="1_4_1"/>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 name="KSO_WM_UNIT_USESOURCEFORMAT_APPLY" val="0"/>
</p:tagLst>
</file>

<file path=ppt/tags/tag5.xml><?xml version="1.0" encoding="utf-8"?>
<p:tagLst xmlns:p="http://schemas.openxmlformats.org/presentationml/2006/main">
  <p:tag name="KSO_WM_DIAGRAM_VIRTUALLY_FRAME" val="{&quot;height&quot;:366.7974853515625,&quot;left&quot;:53.2915771484375,&quot;top&quot;:120.6186982691006,&quot;width&quot;:856.016845703125}"/>
</p:tagLst>
</file>

<file path=ppt/tags/tag6.xml><?xml version="1.0" encoding="utf-8"?>
<p:tagLst xmlns:p="http://schemas.openxmlformats.org/presentationml/2006/main">
  <p:tag name="KSO_WM_DIAGRAM_VIRTUALLY_FRAME" val="{&quot;height&quot;:366.7974853515625,&quot;left&quot;:53.2915771484375,&quot;top&quot;:120.6186982691006,&quot;width&quot;:856.016845703125}"/>
</p:tagLst>
</file>

<file path=ppt/tags/tag7.xml><?xml version="1.0" encoding="utf-8"?>
<p:tagLst xmlns:p="http://schemas.openxmlformats.org/presentationml/2006/main">
  <p:tag name="KSO_WM_DIAGRAM_VIRTUALLY_FRAME" val="{&quot;height&quot;:366.7974853515625,&quot;left&quot;:53.2915771484375,&quot;top&quot;:120.6186982691006,&quot;width&quot;:856.016845703125}"/>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314_4*l_h_i*1_1_1"/>
  <p:tag name="KSO_WM_TEMPLATE_CATEGORY" val="custom"/>
  <p:tag name="KSO_WM_TEMPLATE_INDEX" val="20230314"/>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solid&quot;:{&quot;brightness&quot;:0,&quot;colorType&quot;:1,&quot;foreColorIndex&quot;:16,&quot;transparency&quot;:0},&quot;type&quot;:1},&quot;glow&quot;:{&quot;colorType&quot;:0},&quot;line&quot;:{&quot;type&quot;:0},&quot;shadow&quot;:{&quot;brightness&quot;:-0.5,&quot;colorType&quot;:1,&quot;foreColorIndex&quot;:14,&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6"/>
  <p:tag name="KSO_WM_UNIT_FILL_TYPE" val="1"/>
  <p:tag name="KSO_WM_UNIT_SHADOW_SCHEMECOLOR_INDEX" val="14"/>
  <p:tag name="KSO_WM_UNIT_TEXT_FILL_FORE_SCHEMECOLOR_INDEX" val="2"/>
  <p:tag name="KSO_WM_UNIT_TEXT_FILL_TYPE" val="1"/>
  <p:tag name="KSO_WM_UNIT_USESOURCEFORMAT_APPLY"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ID" val="custom20230314_4*l_h_i*1_1_2"/>
  <p:tag name="KSO_WM_TEMPLATE_CATEGORY" val="custom"/>
  <p:tag name="KSO_WM_TEMPLATE_INDEX" val="20230314"/>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2"/>
  <p:tag name="KSO_WM_UNIT_TEXT_FILL_TYPE" val="1"/>
  <p:tag name="KSO_WM_UNIT_USESOURCEFORMAT_APPLY" val="1"/>
</p:tagLst>
</file>

<file path=ppt/tags/tag1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TEMPLATE_CATEGORY" val="custom"/>
  <p:tag name="KSO_WM_TEMPLATE_INDEX" val="20230314"/>
  <p:tag name="KSO_WM_UNIT_LAYERLEVEL" val="1_1_1"/>
  <p:tag name="KSO_WM_TAG_VERSION" val="3.0"/>
  <p:tag name="KSO_WM_DIAGRAM_GROUP_CODE" val="l1-1"/>
  <p:tag name="KSO_WM_UNIT_ID" val="custom20230314_4*l_h_a*1_1_1"/>
  <p:tag name="KSO_WM_DIAGRAM_VERSION" val="3"/>
  <p:tag name="KSO_WM_DIAGRAM_COLOR_TRICK" val="2"/>
  <p:tag name="KSO_WM_DIAGRAM_COLOR_TEXT_CAN_REMOVE" val="n"/>
  <p:tag name="KSO_WM_UNIT_VALUE" val="28"/>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标题"/>
  <p:tag name="KSO_WM_UNIT_TEXT_TYPE" val="1"/>
  <p:tag name="KSO_WM_UNIT_TEXT_FILL_FORE_SCHEMECOLOR_INDEX" val="13"/>
  <p:tag name="KSO_WM_UNIT_TEXT_FILL_TYPE" val="1"/>
  <p:tag name="KSO_WM_UNIT_USESOURCEFORMAT_APPLY"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314_4*l_h_i*1_2_1"/>
  <p:tag name="KSO_WM_TEMPLATE_CATEGORY" val="custom"/>
  <p:tag name="KSO_WM_TEMPLATE_INDEX" val="20230314"/>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solid&quot;:{&quot;brightness&quot;:0,&quot;colorType&quot;:1,&quot;foreColorIndex&quot;:16,&quot;transparency&quot;:0},&quot;type&quot;:1},&quot;glow&quot;:{&quot;colorType&quot;:0},&quot;line&quot;:{&quot;type&quot;:0},&quot;shadow&quot;:{&quot;brightness&quot;:-0.5,&quot;colorType&quot;:1,&quot;foreColorIndex&quot;:14,&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6"/>
  <p:tag name="KSO_WM_UNIT_FILL_TYPE" val="1"/>
  <p:tag name="KSO_WM_UNIT_SHADOW_SCHEMECOLOR_INDEX" val="14"/>
  <p:tag name="KSO_WM_UNIT_TEXT_FILL_FORE_SCHEMECOLOR_INDEX" val="2"/>
  <p:tag name="KSO_WM_UNIT_TEXT_FILL_TYPE" val="1"/>
  <p:tag name="KSO_WM_UNIT_USESOURCEFORMAT_APPLY"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ID" val="custom20230314_4*l_h_i*1_2_2"/>
  <p:tag name="KSO_WM_TEMPLATE_CATEGORY" val="custom"/>
  <p:tag name="KSO_WM_TEMPLATE_INDEX" val="20230314"/>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6"/>
  <p:tag name="KSO_WM_UNIT_FILL_TYPE" val="1"/>
  <p:tag name="KSO_WM_UNIT_TEXT_FILL_FORE_SCHEMECOLOR_INDEX" val="2"/>
  <p:tag name="KSO_WM_UNIT_TEXT_FILL_TYPE" val="1"/>
  <p:tag name="KSO_WM_UNIT_USESOURCEFORMAT_APPLY" val="1"/>
</p:tagLst>
</file>

<file path=ppt/tags/tag1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TEMPLATE_CATEGORY" val="custom"/>
  <p:tag name="KSO_WM_TEMPLATE_INDEX" val="20230314"/>
  <p:tag name="KSO_WM_UNIT_LAYERLEVEL" val="1_1_1"/>
  <p:tag name="KSO_WM_TAG_VERSION" val="3.0"/>
  <p:tag name="KSO_WM_DIAGRAM_GROUP_CODE" val="l1-1"/>
  <p:tag name="KSO_WM_UNIT_ID" val="custom20230314_4*l_h_a*1_2_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标题"/>
  <p:tag name="KSO_WM_UNIT_TEXT_TYPE" val="1"/>
  <p:tag name="KSO_WM_UNIT_TEXT_FILL_FORE_SCHEMECOLOR_INDEX" val="13"/>
  <p:tag name="KSO_WM_UNIT_TEXT_FILL_TYPE" val="1"/>
  <p:tag name="KSO_WM_UNIT_USESOURCEFORMAT_APPLY"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314_4*l_h_i*1_3_1"/>
  <p:tag name="KSO_WM_TEMPLATE_CATEGORY" val="custom"/>
  <p:tag name="KSO_WM_TEMPLATE_INDEX" val="20230314"/>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solid&quot;:{&quot;brightness&quot;:0,&quot;colorType&quot;:1,&quot;foreColorIndex&quot;:16,&quot;transparency&quot;:0},&quot;type&quot;:1},&quot;glow&quot;:{&quot;colorType&quot;:0},&quot;line&quot;:{&quot;type&quot;:0},&quot;shadow&quot;:{&quot;brightness&quot;:-0.5,&quot;colorType&quot;:1,&quot;foreColorIndex&quot;:14,&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6"/>
  <p:tag name="KSO_WM_UNIT_FILL_TYPE" val="1"/>
  <p:tag name="KSO_WM_UNIT_SHADOW_SCHEMECOLOR_INDEX" val="14"/>
  <p:tag name="KSO_WM_UNIT_TEXT_FILL_FORE_SCHEMECOLOR_INDEX" val="2"/>
  <p:tag name="KSO_WM_UNIT_TEXT_FILL_TYPE" val="1"/>
  <p:tag name="KSO_WM_UNIT_USESOURCEFORMAT_APPLY"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ID" val="custom20230314_4*l_h_i*1_3_2"/>
  <p:tag name="KSO_WM_TEMPLATE_CATEGORY" val="custom"/>
  <p:tag name="KSO_WM_TEMPLATE_INDEX" val="20230314"/>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2"/>
  <p:tag name="KSO_WM_UNIT_TEXT_FILL_TYPE" val="1"/>
  <p:tag name="KSO_WM_UNIT_USESOURCEFORMAT_APPLY" val="1"/>
</p:tagLst>
</file>

<file path=ppt/tags/tag1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TEMPLATE_CATEGORY" val="custom"/>
  <p:tag name="KSO_WM_TEMPLATE_INDEX" val="20230314"/>
  <p:tag name="KSO_WM_UNIT_LAYERLEVEL" val="1_1_1"/>
  <p:tag name="KSO_WM_TAG_VERSION" val="3.0"/>
  <p:tag name="KSO_WM_DIAGRAM_GROUP_CODE" val="l1-1"/>
  <p:tag name="KSO_WM_UNIT_ID" val="custom20230314_4*l_h_a*1_3_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标题"/>
  <p:tag name="KSO_WM_UNIT_TEXT_TYPE" val="1"/>
  <p:tag name="KSO_WM_UNIT_TEXT_FILL_FORE_SCHEMECOLOR_INDEX" val="13"/>
  <p:tag name="KSO_WM_UNIT_TEXT_FILL_TYPE" val="1"/>
  <p:tag name="KSO_WM_UNIT_USESOURCEFORMAT_APPLY"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314_4*l_h_i*1_4_1"/>
  <p:tag name="KSO_WM_TEMPLATE_CATEGORY" val="custom"/>
  <p:tag name="KSO_WM_TEMPLATE_INDEX" val="20230314"/>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solid&quot;:{&quot;brightness&quot;:0,&quot;colorType&quot;:1,&quot;foreColorIndex&quot;:16,&quot;transparency&quot;:0},&quot;type&quot;:1},&quot;glow&quot;:{&quot;colorType&quot;:0},&quot;line&quot;:{&quot;type&quot;:0},&quot;shadow&quot;:{&quot;brightness&quot;:-0.5,&quot;colorType&quot;:1,&quot;foreColorIndex&quot;:14,&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6"/>
  <p:tag name="KSO_WM_UNIT_FILL_TYPE" val="1"/>
  <p:tag name="KSO_WM_UNIT_SHADOW_SCHEMECOLOR_INDEX" val="14"/>
  <p:tag name="KSO_WM_UNIT_TEXT_FILL_FORE_SCHEMECOLOR_INDEX" val="2"/>
  <p:tag name="KSO_WM_UNIT_TEXT_FILL_TYPE" val="1"/>
  <p:tag name="KSO_WM_UNIT_USESOURCEFORMAT_APPLY" val="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ID" val="custom20230314_4*l_h_i*1_4_2"/>
  <p:tag name="KSO_WM_TEMPLATE_CATEGORY" val="custom"/>
  <p:tag name="KSO_WM_TEMPLATE_INDEX" val="20230314"/>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6"/>
  <p:tag name="KSO_WM_UNIT_FILL_TYPE" val="1"/>
  <p:tag name="KSO_WM_UNIT_TEXT_FILL_FORE_SCHEMECOLOR_INDEX" val="2"/>
  <p:tag name="KSO_WM_UNIT_TEXT_FILL_TYPE" val="1"/>
  <p:tag name="KSO_WM_UNIT_USESOURCEFORMAT_APPLY" val="1"/>
</p:tagLst>
</file>

<file path=ppt/tags/tag1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TEMPLATE_CATEGORY" val="custom"/>
  <p:tag name="KSO_WM_TEMPLATE_INDEX" val="20230314"/>
  <p:tag name="KSO_WM_UNIT_LAYERLEVEL" val="1_1_1"/>
  <p:tag name="KSO_WM_TAG_VERSION" val="3.0"/>
  <p:tag name="KSO_WM_DIAGRAM_GROUP_CODE" val="l1-1"/>
  <p:tag name="KSO_WM_UNIT_ID" val="custom20230314_4*l_h_a*1_4_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标题"/>
  <p:tag name="KSO_WM_UNIT_TEXT_TYPE" val="1"/>
  <p:tag name="KSO_WM_UNIT_TEXT_FILL_FORE_SCHEMECOLOR_INDEX" val="13"/>
  <p:tag name="KSO_WM_UNIT_TEXT_FILL_TYPE" val="1"/>
  <p:tag name="KSO_WM_UNIT_USESOURCEFORMAT_APPLY"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ζ_h_i"/>
  <p:tag name="KSO_WM_UNIT_INDEX" val="1_1_2"/>
  <p:tag name="KSO_WM_UNIT_ID" val="diagram20215445_1*ζ_h_i*1_1_2"/>
  <p:tag name="KSO_WM_TEMPLATE_CATEGORY" val="diagram"/>
  <p:tag name="KSO_WM_TEMPLATE_INDEX" val="20215445"/>
  <p:tag name="KSO_WM_UNIT_LAYERLEVEL" val="1_1_1"/>
  <p:tag name="KSO_WM_TAG_VERSION" val="1.0"/>
  <p:tag name="KSO_WM_BEAUTIFY_FLAG" val="#wm#"/>
  <p:tag name="KSO_WM_UNIT_PICTURE_TOWARD" val="1"/>
  <p:tag name="KSO_WM_UNIT_DIAGRAM_MODELTYPE" val="creativePicture"/>
  <p:tag name="KSO_WM_UNIT_USESOURCEFORMAT_APPLY" val="1"/>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ζ_h_i"/>
  <p:tag name="KSO_WM_UNIT_INDEX" val="1_1_3"/>
  <p:tag name="KSO_WM_UNIT_ID" val="diagram20215445_1*ζ_h_i*1_1_3"/>
  <p:tag name="KSO_WM_TEMPLATE_CATEGORY" val="diagram"/>
  <p:tag name="KSO_WM_TEMPLATE_INDEX" val="20215445"/>
  <p:tag name="KSO_WM_UNIT_LAYERLEVEL" val="1_1_1"/>
  <p:tag name="KSO_WM_TAG_VERSION" val="1.0"/>
  <p:tag name="KSO_WM_BEAUTIFY_FLAG" val="#wm#"/>
  <p:tag name="KSO_WM_UNIT_PICTURE_TOWARD" val="1"/>
  <p:tag name="KSO_WM_UNIT_DIAGRAM_MODELTYPE" val="creativePicture"/>
  <p:tag name="KSO_WM_UNIT_USESOURCEFORMAT_APPLY" val="1"/>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ID" val="diagram20217032_1*f*1"/>
  <p:tag name="KSO_WM_TEMPLATE_CATEGORY" val="diagram"/>
  <p:tag name="KSO_WM_TEMPLATE_INDEX" val="20217032"/>
  <p:tag name="KSO_WM_UNIT_LAYERLEVEL" val="1"/>
  <p:tag name="KSO_WM_TAG_VERSION" val="1.0"/>
  <p:tag name="KSO_WM_UNIT_DEFAULT_FONT" val="14;20;2"/>
  <p:tag name="KSO_WM_UNIT_BLOCK" val="0"/>
  <p:tag name="KSO_WM_UNIT_VALUE" val="144"/>
  <p:tag name="KSO_WM_UNIT_SHOW_EDIT_AREA_INDICATION" val="1"/>
  <p:tag name="KSO_WM_CHIP_GROUPID" val="5e6b05596848fb12bee65ac8"/>
  <p:tag name="KSO_WM_CHIP_XID" val="5e6b05596848fb12bee65aca"/>
  <p:tag name="KSO_WM_UNIT_DEC_AREA_ID" val="07d42e7a557c480bb239dd4d36dd2d3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b&quot;,&quot;fill_mode&quot;:&quot;full&quot;,&quot;sacle_strategy&quot;:&quot;smart&quot;}"/>
  <p:tag name="KSO_WM_ASSEMBLE_CHIP_INDEX" val="a2f11842ffb24742be6c3c047d565edd"/>
  <p:tag name="KSO_WM_UNIT_SUPPORT_BIG_FONT" val="1"/>
  <p:tag name="KSO_WM_UNIT_TEXT_FILL_FORE_SCHEMECOLOR_INDEX_BRIGHTNESS" val="0.25"/>
  <p:tag name="KSO_WM_UNIT_TEXT_FILL_FORE_SCHEMECOLOR_INDEX" val="13"/>
  <p:tag name="KSO_WM_UNIT_TEXT_FILL_TYPE" val="1"/>
  <p:tag name="KSO_WM_TEMPLATE_ASSEMBLE_XID" val="6065703f4054ed1e2fb81493"/>
  <p:tag name="KSO_WM_TEMPLATE_ASSEMBLE_GROUPID" val="6065703f4054ed1e2fb81493"/>
</p:tagLst>
</file>

<file path=ppt/tags/tag23.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 name="resource_record_key" val="{&quot;29&quot;:[50000199],&quot;65&quot;:[20217032]}"/>
</p:tagLst>
</file>

<file path=ppt/tags/tag24.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 name="resource_record_key" val="{&quot;29&quot;:[50000199],&quot;65&quot;:[20217032]}"/>
</p:tagLst>
</file>

<file path=ppt/tags/tag25.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 name="resource_record_key" val="{&quot;29&quot;:[50000199],&quot;65&quot;:[20217032]}"/>
</p:tagLst>
</file>

<file path=ppt/tags/tag26.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 name="resource_record_key" val="{&quot;29&quot;:[50000199],&quot;65&quot;:[20217032]}"/>
</p:tagLst>
</file>

<file path=ppt/tags/tag27.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 name="resource_record_key" val="{&quot;29&quot;:[50000199],&quot;65&quot;:[20217032]}"/>
</p:tagLst>
</file>

<file path=ppt/tags/tag28.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 name="resource_record_key" val="{&quot;29&quot;:[50000199],&quot;65&quot;:[20217032]}"/>
</p:tagLst>
</file>

<file path=ppt/tags/tag29.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 name="resource_record_key" val="{&quot;29&quot;:[50000199],&quot;65&quot;:[20217032]}"/>
</p:tagLst>
</file>

<file path=ppt/tags/tag30.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 name="resource_record_key" val="{&quot;29&quot;:[50000199],&quot;65&quot;:[20217032]}"/>
</p:tagLst>
</file>

<file path=ppt/tags/tag31.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 name="resource_record_key" val="{&quot;29&quot;:[50000199],&quot;65&quot;:[20217032]}"/>
</p:tagLst>
</file>

<file path=ppt/tags/tag32.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 name="resource_record_key" val="{&quot;29&quot;:[50000199],&quot;65&quot;:[20217032]}"/>
</p:tagLst>
</file>

<file path=ppt/tags/tag33.xml><?xml version="1.0" encoding="utf-8"?>
<p:tagLst xmlns:p="http://schemas.openxmlformats.org/presentationml/2006/main">
  <p:tag name="KSO_WM_DIAGRAM_VIRTUALLY_FRAME" val="{&quot;height&quot;:366.7974853515625,&quot;left&quot;:53.2915771484375,&quot;top&quot;:120.6186982691006,&quot;width&quot;:856.016845703125}"/>
</p:tagLst>
</file>

<file path=ppt/tags/tag34.xml><?xml version="1.0" encoding="utf-8"?>
<p:tagLst xmlns:p="http://schemas.openxmlformats.org/presentationml/2006/main">
  <p:tag name="commondata" val="eyJoZGlkIjoiNzkwNzI2MWI5ZmNlYmI0MDZiNjg1NDNhOTJjMDUwYjAifQ=="/>
  <p:tag name="resource_record_key" val="{&quot;29&quot;:[50000199],&quot;65&quot;:[20217032]}"/>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1894</Words>
  <Application>WPS 演示</Application>
  <PresentationFormat>宽屏</PresentationFormat>
  <Paragraphs>85</Paragraphs>
  <Slides>14</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14</vt:i4>
      </vt:variant>
    </vt:vector>
  </HeadingPairs>
  <TitlesOfParts>
    <vt:vector size="32" baseType="lpstr">
      <vt:lpstr>Arial</vt:lpstr>
      <vt:lpstr>宋体</vt:lpstr>
      <vt:lpstr>Wingdings</vt:lpstr>
      <vt:lpstr>微软雅黑</vt:lpstr>
      <vt:lpstr>黑体</vt:lpstr>
      <vt:lpstr>MiSans Normal</vt:lpstr>
      <vt:lpstr>Times New Roman</vt:lpstr>
      <vt:lpstr>Segoe UI</vt:lpstr>
      <vt:lpstr>Wingdings</vt:lpstr>
      <vt:lpstr>思源黑体 CN Light</vt:lpstr>
      <vt:lpstr>思源宋体 CN Light</vt:lpstr>
      <vt:lpstr>Times New Roman</vt:lpstr>
      <vt:lpstr>-apple-system</vt:lpstr>
      <vt:lpstr>Malgun Gothic</vt:lpstr>
      <vt:lpstr>Calibri</vt:lpstr>
      <vt:lpstr>Arial Unicode MS</vt:lpstr>
      <vt:lpstr>Segoe Print</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huanglanlan</dc:creator>
  <cp:lastModifiedBy>蔡振辛</cp:lastModifiedBy>
  <cp:revision>107</cp:revision>
  <dcterms:created xsi:type="dcterms:W3CDTF">2023-08-09T12:44:00Z</dcterms:created>
  <dcterms:modified xsi:type="dcterms:W3CDTF">2025-06-15T02:12:15Z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20329C4947F648E19058CB95ECA0BA9F_13</vt:lpwstr>
  </property>
  <property fmtid="{D5CDD505-2E9C-101B-9397-08002B2CF9AE}" pid="3" name="KSOProductBuildVer">
    <vt:lpwstr>2052-12.1.0.21541</vt:lpwstr>
  </property>
</Properties>
</file>